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Poppins" panose="000005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gEYLG6nSW/7b9+WpU/0bF53W/6/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852"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2" y="0"/>
            <a:ext cx="2971800" cy="45878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 name="Google Shape;5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7" name="Google Shape;5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222222"/>
              </a:buClr>
              <a:buSzPts val="1800"/>
              <a:buFont typeface="Poppins"/>
              <a:buNone/>
            </a:pPr>
            <a:r>
              <a:rPr lang="en-US">
                <a:solidFill>
                  <a:srgbClr val="222222"/>
                </a:solidFill>
                <a:latin typeface="Poppins"/>
                <a:ea typeface="Poppins"/>
                <a:cs typeface="Poppins"/>
                <a:sym typeface="Poppins"/>
              </a:rPr>
              <a:t>A </a:t>
            </a:r>
            <a:r>
              <a:rPr lang="en-US" b="1">
                <a:solidFill>
                  <a:srgbClr val="222222"/>
                </a:solidFill>
                <a:latin typeface="Poppins"/>
                <a:ea typeface="Poppins"/>
                <a:cs typeface="Poppins"/>
                <a:sym typeface="Poppins"/>
              </a:rPr>
              <a:t>shaft is</a:t>
            </a:r>
            <a:r>
              <a:rPr lang="en-US">
                <a:solidFill>
                  <a:srgbClr val="222222"/>
                </a:solidFill>
                <a:latin typeface="Poppins"/>
                <a:ea typeface="Poppins"/>
                <a:cs typeface="Poppins"/>
                <a:sym typeface="Poppins"/>
              </a:rPr>
              <a:t> a rotating </a:t>
            </a:r>
            <a:r>
              <a:rPr lang="en-US" b="1">
                <a:solidFill>
                  <a:srgbClr val="222222"/>
                </a:solidFill>
                <a:latin typeface="Poppins"/>
                <a:ea typeface="Poppins"/>
                <a:cs typeface="Poppins"/>
                <a:sym typeface="Poppins"/>
              </a:rPr>
              <a:t>machine</a:t>
            </a:r>
            <a:r>
              <a:rPr lang="en-US">
                <a:solidFill>
                  <a:srgbClr val="222222"/>
                </a:solidFill>
                <a:latin typeface="Poppins"/>
                <a:ea typeface="Poppins"/>
                <a:cs typeface="Poppins"/>
                <a:sym typeface="Poppins"/>
              </a:rPr>
              <a:t> element, usually circular in cross section, which </a:t>
            </a:r>
            <a:r>
              <a:rPr lang="en-US" b="1">
                <a:solidFill>
                  <a:srgbClr val="222222"/>
                </a:solidFill>
                <a:latin typeface="Poppins"/>
                <a:ea typeface="Poppins"/>
                <a:cs typeface="Poppins"/>
                <a:sym typeface="Poppins"/>
              </a:rPr>
              <a:t>is used</a:t>
            </a:r>
            <a:r>
              <a:rPr lang="en-US">
                <a:solidFill>
                  <a:srgbClr val="222222"/>
                </a:solidFill>
                <a:latin typeface="Poppins"/>
                <a:ea typeface="Poppins"/>
                <a:cs typeface="Poppins"/>
                <a:sym typeface="Poppins"/>
              </a:rPr>
              <a:t> to transmit power from one part to another, or from a </a:t>
            </a:r>
            <a:r>
              <a:rPr lang="en-US" b="1">
                <a:solidFill>
                  <a:srgbClr val="222222"/>
                </a:solidFill>
                <a:latin typeface="Poppins"/>
                <a:ea typeface="Poppins"/>
                <a:cs typeface="Poppins"/>
                <a:sym typeface="Poppins"/>
              </a:rPr>
              <a:t>machine</a:t>
            </a:r>
            <a:r>
              <a:rPr lang="en-US">
                <a:solidFill>
                  <a:srgbClr val="222222"/>
                </a:solidFill>
                <a:latin typeface="Poppins"/>
                <a:ea typeface="Poppins"/>
                <a:cs typeface="Poppins"/>
                <a:sym typeface="Poppins"/>
              </a:rPr>
              <a:t> which produces power to a </a:t>
            </a:r>
            <a:r>
              <a:rPr lang="en-US" b="1">
                <a:solidFill>
                  <a:srgbClr val="222222"/>
                </a:solidFill>
                <a:latin typeface="Poppins"/>
                <a:ea typeface="Poppins"/>
                <a:cs typeface="Poppins"/>
                <a:sym typeface="Poppins"/>
              </a:rPr>
              <a:t>machine</a:t>
            </a:r>
            <a:r>
              <a:rPr lang="en-US">
                <a:solidFill>
                  <a:srgbClr val="222222"/>
                </a:solidFill>
                <a:latin typeface="Poppins"/>
                <a:ea typeface="Poppins"/>
                <a:cs typeface="Poppins"/>
                <a:sym typeface="Poppins"/>
              </a:rPr>
              <a:t> which absorbs power. The various members such as pulleys and gears </a:t>
            </a:r>
            <a:r>
              <a:rPr lang="en-US" b="1">
                <a:solidFill>
                  <a:srgbClr val="222222"/>
                </a:solidFill>
                <a:latin typeface="Poppins"/>
                <a:ea typeface="Poppins"/>
                <a:cs typeface="Poppins"/>
                <a:sym typeface="Poppins"/>
              </a:rPr>
              <a:t>are</a:t>
            </a:r>
            <a:r>
              <a:rPr lang="en-US">
                <a:solidFill>
                  <a:srgbClr val="222222"/>
                </a:solidFill>
                <a:latin typeface="Poppins"/>
                <a:ea typeface="Poppins"/>
                <a:cs typeface="Poppins"/>
                <a:sym typeface="Poppins"/>
              </a:rPr>
              <a:t> mounted on it.</a:t>
            </a:r>
            <a:endParaRPr>
              <a:latin typeface="Poppins"/>
              <a:ea typeface="Poppins"/>
              <a:cs typeface="Poppins"/>
              <a:sym typeface="Poppins"/>
            </a:endParaRPr>
          </a:p>
          <a:p>
            <a:pPr marL="0" lvl="0" indent="0" algn="l" rtl="0">
              <a:lnSpc>
                <a:spcPct val="100000"/>
              </a:lnSpc>
              <a:spcBef>
                <a:spcPts val="0"/>
              </a:spcBef>
              <a:spcAft>
                <a:spcPts val="0"/>
              </a:spcAft>
              <a:buSzPts val="1400"/>
              <a:buNone/>
            </a:pPr>
            <a:endParaRPr>
              <a:latin typeface="Poppins"/>
              <a:ea typeface="Poppins"/>
              <a:cs typeface="Poppins"/>
              <a:sym typeface="Poppins"/>
            </a:endParaRPr>
          </a:p>
        </p:txBody>
      </p:sp>
      <p:sp>
        <p:nvSpPr>
          <p:cNvPr id="58" name="Google Shape;58;p2: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6" name="Google Shape;6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Font typeface="Poppins"/>
              <a:buNone/>
            </a:pPr>
            <a:r>
              <a:rPr lang="en-US">
                <a:latin typeface="Poppins"/>
                <a:ea typeface="Poppins"/>
                <a:cs typeface="Poppins"/>
                <a:sym typeface="Poppins"/>
              </a:rPr>
              <a:t>such as on motors and pumps, compressors, and generators</a:t>
            </a:r>
            <a:endParaRPr/>
          </a:p>
        </p:txBody>
      </p:sp>
      <p:sp>
        <p:nvSpPr>
          <p:cNvPr id="67" name="Google Shape;67;p3: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 name="Google Shape;79;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9" name="Google Shape;8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Font typeface="Poppins"/>
              <a:buNone/>
            </a:pPr>
            <a:r>
              <a:rPr lang="en-US">
                <a:latin typeface="Poppins"/>
                <a:ea typeface="Poppins"/>
                <a:cs typeface="Poppins"/>
                <a:sym typeface="Poppins"/>
              </a:rPr>
              <a:t>Examples are winches(torno), wind-up clocks, and washing </a:t>
            </a:r>
            <a:r>
              <a:rPr lang="en-US" b="1">
                <a:latin typeface="Poppins"/>
                <a:ea typeface="Poppins"/>
                <a:cs typeface="Poppins"/>
                <a:sym typeface="Poppins"/>
              </a:rPr>
              <a:t>machines</a:t>
            </a:r>
            <a:r>
              <a:rPr lang="en-US">
                <a:latin typeface="Poppins"/>
                <a:ea typeface="Poppins"/>
                <a:cs typeface="Poppins"/>
                <a:sym typeface="Poppins"/>
              </a:rPr>
              <a:t>.</a:t>
            </a:r>
            <a:endParaRPr>
              <a:latin typeface="Poppins"/>
              <a:ea typeface="Poppins"/>
              <a:cs typeface="Poppins"/>
              <a:sym typeface="Poppins"/>
            </a:endParaRPr>
          </a:p>
          <a:p>
            <a:pPr marL="0" lvl="0" indent="0" algn="l" rtl="0">
              <a:lnSpc>
                <a:spcPct val="100000"/>
              </a:lnSpc>
              <a:spcBef>
                <a:spcPts val="0"/>
              </a:spcBef>
              <a:spcAft>
                <a:spcPts val="0"/>
              </a:spcAft>
              <a:buSzPts val="1400"/>
              <a:buNone/>
            </a:pPr>
            <a:endParaRPr>
              <a:latin typeface="Poppins"/>
              <a:ea typeface="Poppins"/>
              <a:cs typeface="Poppins"/>
              <a:sym typeface="Poppins"/>
            </a:endParaRPr>
          </a:p>
        </p:txBody>
      </p:sp>
      <p:sp>
        <p:nvSpPr>
          <p:cNvPr id="90" name="Google Shape;90;p5: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3" name="Google Shape;10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Font typeface="Poppins"/>
              <a:buNone/>
            </a:pPr>
            <a:r>
              <a:rPr lang="en-US">
                <a:latin typeface="Poppins"/>
                <a:ea typeface="Poppins"/>
                <a:cs typeface="Poppins"/>
                <a:sym typeface="Poppins"/>
              </a:rPr>
              <a:t>, such as certain automobiles and hand drills</a:t>
            </a:r>
            <a:endParaRPr/>
          </a:p>
        </p:txBody>
      </p:sp>
      <p:sp>
        <p:nvSpPr>
          <p:cNvPr id="104" name="Google Shape;104;p6: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6" name="Google Shape;11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Font typeface="Poppins"/>
              <a:buNone/>
            </a:pPr>
            <a:r>
              <a:rPr lang="en-US">
                <a:latin typeface="Poppins"/>
                <a:ea typeface="Poppins"/>
                <a:cs typeface="Poppins"/>
                <a:sym typeface="Poppins"/>
              </a:rPr>
              <a:t>in conveyor systems </a:t>
            </a:r>
            <a:endParaRPr/>
          </a:p>
        </p:txBody>
      </p:sp>
      <p:sp>
        <p:nvSpPr>
          <p:cNvPr id="117" name="Google Shape;117;p7: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95" name="Google Shape;19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a:t>The most common types are the screw, nut and bolt.</a:t>
            </a:r>
            <a:endParaRPr/>
          </a:p>
        </p:txBody>
      </p:sp>
      <p:sp>
        <p:nvSpPr>
          <p:cNvPr id="196" name="Google Shape;196;p14: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
        <p:cNvGrpSpPr/>
        <p:nvPr/>
      </p:nvGrpSpPr>
      <p:grpSpPr>
        <a:xfrm>
          <a:off x="0" y="0"/>
          <a:ext cx="0" cy="0"/>
          <a:chOff x="0" y="0"/>
          <a:chExt cx="0" cy="0"/>
        </a:xfrm>
      </p:grpSpPr>
      <p:sp>
        <p:nvSpPr>
          <p:cNvPr id="16" name="Google Shape;16;p24"/>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17" name="Google Shape;17;p24"/>
          <p:cNvSpPr txBox="1">
            <a:spLocks noGrp="1"/>
          </p:cNvSpPr>
          <p:nvPr>
            <p:ph type="body" idx="1"/>
          </p:nvPr>
        </p:nvSpPr>
        <p:spPr>
          <a:xfrm rot="5400000">
            <a:off x="604044" y="389732"/>
            <a:ext cx="5811838" cy="5762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
        <p:cNvGrpSpPr/>
        <p:nvPr/>
      </p:nvGrpSpPr>
      <p:grpSpPr>
        <a:xfrm>
          <a:off x="0" y="0"/>
          <a:ext cx="0" cy="0"/>
          <a:chOff x="0" y="0"/>
          <a:chExt cx="0" cy="0"/>
        </a:xfrm>
      </p:grpSpPr>
      <p:sp>
        <p:nvSpPr>
          <p:cNvPr id="19" name="Google Shape;19;p2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20" name="Google Shape;20;p25"/>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
        <p:cNvGrpSpPr/>
        <p:nvPr/>
      </p:nvGrpSpPr>
      <p:grpSpPr>
        <a:xfrm>
          <a:off x="0" y="0"/>
          <a:ext cx="0" cy="0"/>
          <a:chOff x="0" y="0"/>
          <a:chExt cx="0" cy="0"/>
        </a:xfrm>
      </p:grpSpPr>
      <p:sp>
        <p:nvSpPr>
          <p:cNvPr id="22" name="Google Shape;22;p26"/>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23" name="Google Shape;23;p26"/>
          <p:cNvSpPr>
            <a:spLocks noGrp="1"/>
          </p:cNvSpPr>
          <p:nvPr>
            <p:ph type="pic" idx="2"/>
          </p:nvPr>
        </p:nvSpPr>
        <p:spPr>
          <a:xfrm>
            <a:off x="3887788" y="987425"/>
            <a:ext cx="4629150" cy="4873625"/>
          </a:xfrm>
          <a:prstGeom prst="rect">
            <a:avLst/>
          </a:prstGeom>
          <a:noFill/>
          <a:ln>
            <a:noFill/>
          </a:ln>
        </p:spPr>
      </p:sp>
      <p:sp>
        <p:nvSpPr>
          <p:cNvPr id="24" name="Google Shape;24;p26"/>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240"/>
              </a:spcBef>
              <a:spcAft>
                <a:spcPts val="0"/>
              </a:spcAft>
              <a:buClr>
                <a:schemeClr val="dk1"/>
              </a:buClr>
              <a:buSzPts val="1200"/>
              <a:buFont typeface="Times New Roman"/>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20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20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5"/>
        <p:cNvGrpSpPr/>
        <p:nvPr/>
      </p:nvGrpSpPr>
      <p:grpSpPr>
        <a:xfrm>
          <a:off x="0" y="0"/>
          <a:ext cx="0" cy="0"/>
          <a:chOff x="0" y="0"/>
          <a:chExt cx="0" cy="0"/>
        </a:xfrm>
      </p:grpSpPr>
      <p:sp>
        <p:nvSpPr>
          <p:cNvPr id="26" name="Google Shape;26;p27"/>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27" name="Google Shape;27;p27"/>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28" name="Google Shape;28;p27"/>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240"/>
              </a:spcBef>
              <a:spcAft>
                <a:spcPts val="0"/>
              </a:spcAft>
              <a:buClr>
                <a:schemeClr val="dk1"/>
              </a:buClr>
              <a:buSzPts val="1200"/>
              <a:buFont typeface="Times New Roman"/>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20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20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28"/>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1"/>
        <p:cNvGrpSpPr/>
        <p:nvPr/>
      </p:nvGrpSpPr>
      <p:grpSpPr>
        <a:xfrm>
          <a:off x="0" y="0"/>
          <a:ext cx="0" cy="0"/>
          <a:chOff x="0" y="0"/>
          <a:chExt cx="0" cy="0"/>
        </a:xfrm>
      </p:grpSpPr>
      <p:sp>
        <p:nvSpPr>
          <p:cNvPr id="32" name="Google Shape;32;p29"/>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33" name="Google Shape;33;p29"/>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Times New Roman"/>
              <a:buNone/>
              <a:defRPr sz="2400" b="1"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400"/>
              </a:spcBef>
              <a:spcAft>
                <a:spcPts val="0"/>
              </a:spcAft>
              <a:buClr>
                <a:schemeClr val="dk1"/>
              </a:buClr>
              <a:buSzPts val="2000"/>
              <a:buFont typeface="Times New Roman"/>
              <a:buNone/>
              <a:defRPr sz="2000" b="1"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36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34" name="Google Shape;34;p29"/>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35" name="Google Shape;35;p29"/>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Times New Roman"/>
              <a:buNone/>
              <a:defRPr sz="2400" b="1"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400"/>
              </a:spcBef>
              <a:spcAft>
                <a:spcPts val="0"/>
              </a:spcAft>
              <a:buClr>
                <a:schemeClr val="dk1"/>
              </a:buClr>
              <a:buSzPts val="2000"/>
              <a:buFont typeface="Times New Roman"/>
              <a:buNone/>
              <a:defRPr sz="2000" b="1"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36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36" name="Google Shape;36;p29"/>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0"/>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39" name="Google Shape;39;p30"/>
          <p:cNvSpPr txBox="1">
            <a:spLocks noGrp="1"/>
          </p:cNvSpPr>
          <p:nvPr>
            <p:ph type="body" idx="1"/>
          </p:nvPr>
        </p:nvSpPr>
        <p:spPr>
          <a:xfrm>
            <a:off x="628650" y="1825625"/>
            <a:ext cx="3867150" cy="4351338"/>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0" name="Google Shape;40;p30"/>
          <p:cNvSpPr txBox="1">
            <a:spLocks noGrp="1"/>
          </p:cNvSpPr>
          <p:nvPr>
            <p:ph type="body" idx="2"/>
          </p:nvPr>
        </p:nvSpPr>
        <p:spPr>
          <a:xfrm>
            <a:off x="4648200" y="1825625"/>
            <a:ext cx="3867150" cy="4351338"/>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31"/>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Clr>
                <a:srgbClr val="000000"/>
              </a:buClr>
              <a:buSzPts val="1400"/>
              <a:buFont typeface="Arial"/>
              <a:buNone/>
              <a:defRPr sz="60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43" name="Google Shape;43;p31"/>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360"/>
              </a:spcBef>
              <a:spcAft>
                <a:spcPts val="0"/>
              </a:spcAft>
              <a:buClr>
                <a:schemeClr val="dk1"/>
              </a:buClr>
              <a:buSzPts val="1800"/>
              <a:buFont typeface="Times New Roman"/>
              <a:buNone/>
              <a:defRPr sz="18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32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32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4"/>
        <p:cNvGrpSpPr/>
        <p:nvPr/>
      </p:nvGrpSpPr>
      <p:grpSpPr>
        <a:xfrm>
          <a:off x="0" y="0"/>
          <a:ext cx="0" cy="0"/>
          <a:chOff x="0" y="0"/>
          <a:chExt cx="0" cy="0"/>
        </a:xfrm>
      </p:grpSpPr>
      <p:sp>
        <p:nvSpPr>
          <p:cNvPr id="45" name="Google Shape;45;p3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46" name="Google Shape;46;p3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7"/>
        <p:cNvGrpSpPr/>
        <p:nvPr/>
      </p:nvGrpSpPr>
      <p:grpSpPr>
        <a:xfrm>
          <a:off x="0" y="0"/>
          <a:ext cx="0" cy="0"/>
          <a:chOff x="0" y="0"/>
          <a:chExt cx="0" cy="0"/>
        </a:xfrm>
      </p:grpSpPr>
      <p:sp>
        <p:nvSpPr>
          <p:cNvPr id="48" name="Google Shape;48;p33"/>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Clr>
                <a:srgbClr val="000000"/>
              </a:buClr>
              <a:buSzPts val="1400"/>
              <a:buFont typeface="Arial"/>
              <a:buNone/>
              <a:defRPr sz="60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49" name="Google Shape;49;p33"/>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48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1pPr>
            <a:lvl2pPr marR="0" lvl="1" algn="ctr" rtl="0">
              <a:lnSpc>
                <a:spcPct val="100000"/>
              </a:lnSpc>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2pPr>
            <a:lvl3pPr marR="0" lvl="2" algn="ctr" rtl="0">
              <a:lnSpc>
                <a:spcPct val="100000"/>
              </a:lnSpc>
              <a:spcBef>
                <a:spcPts val="360"/>
              </a:spcBef>
              <a:spcAft>
                <a:spcPts val="0"/>
              </a:spcAft>
              <a:buClr>
                <a:schemeClr val="dk1"/>
              </a:buClr>
              <a:buSzPts val="1800"/>
              <a:buFont typeface="Times New Roman"/>
              <a:buNone/>
              <a:defRPr sz="1800" b="0" i="0" u="none" strike="noStrike" cap="none">
                <a:solidFill>
                  <a:schemeClr val="dk1"/>
                </a:solidFill>
                <a:latin typeface="Times New Roman"/>
                <a:ea typeface="Times New Roman"/>
                <a:cs typeface="Times New Roman"/>
                <a:sym typeface="Times New Roman"/>
              </a:defRPr>
            </a:lvl3pPr>
            <a:lvl4pPr marR="0" lvl="3" algn="ctr" rtl="0">
              <a:lnSpc>
                <a:spcPct val="100000"/>
              </a:lnSpc>
              <a:spcBef>
                <a:spcPts val="32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4pPr>
            <a:lvl5pPr marR="0" lvl="4" algn="ctr" rtl="0">
              <a:lnSpc>
                <a:spcPct val="100000"/>
              </a:lnSpc>
              <a:spcBef>
                <a:spcPts val="32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imes New Roman"/>
                <a:ea typeface="Times New Roman"/>
                <a:cs typeface="Times New Roman"/>
                <a:sym typeface="Times New Roman"/>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imes New Roman"/>
                <a:ea typeface="Times New Roman"/>
                <a:cs typeface="Times New Roman"/>
                <a:sym typeface="Times New Roman"/>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imes New Roman"/>
                <a:ea typeface="Times New Roman"/>
                <a:cs typeface="Times New Roman"/>
                <a:sym typeface="Times New Roman"/>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p:nvPr/>
        </p:nvSpPr>
        <p:spPr>
          <a:xfrm>
            <a:off x="0" y="1143000"/>
            <a:ext cx="1676400" cy="5715000"/>
          </a:xfrm>
          <a:prstGeom prst="rect">
            <a:avLst/>
          </a:prstGeom>
          <a:gradFill>
            <a:gsLst>
              <a:gs pos="0">
                <a:srgbClr val="F8F8F8"/>
              </a:gs>
              <a:gs pos="100000">
                <a:srgbClr val="FFFFFF"/>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1" name="Google Shape;11;p22"/>
          <p:cNvSpPr txBox="1"/>
          <p:nvPr/>
        </p:nvSpPr>
        <p:spPr>
          <a:xfrm>
            <a:off x="0" y="838200"/>
            <a:ext cx="9144000" cy="30480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2" name="Google Shape;12;p22"/>
          <p:cNvSpPr txBox="1"/>
          <p:nvPr/>
        </p:nvSpPr>
        <p:spPr>
          <a:xfrm>
            <a:off x="0" y="0"/>
            <a:ext cx="9144000" cy="838200"/>
          </a:xfrm>
          <a:prstGeom prst="rect">
            <a:avLst/>
          </a:prstGeom>
          <a:solidFill>
            <a:schemeClr val="accent2"/>
          </a:solid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3" name="Google Shape;13;p22"/>
          <p:cNvSpPr txBox="1"/>
          <p:nvPr/>
        </p:nvSpPr>
        <p:spPr>
          <a:xfrm>
            <a:off x="2743200" y="152400"/>
            <a:ext cx="6400800" cy="5794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3200"/>
              <a:buFont typeface="Poppins"/>
              <a:buNone/>
            </a:pPr>
            <a:r>
              <a:rPr lang="en-US" sz="3200" b="1" i="0" u="none" strike="noStrike" cap="none">
                <a:solidFill>
                  <a:schemeClr val="lt1"/>
                </a:solidFill>
                <a:latin typeface="Poppins"/>
                <a:ea typeface="Poppins"/>
                <a:cs typeface="Poppins"/>
                <a:sym typeface="Poppins"/>
              </a:rPr>
              <a:t>Basic Machine Elements</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jp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4.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8.jpg"/><Relationship Id="rId4" Type="http://schemas.openxmlformats.org/officeDocument/2006/relationships/image" Target="../media/image27.jp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7.jpg"/></Relationships>
</file>

<file path=ppt/slides/_rels/slide1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9.jpg"/></Relationships>
</file>

<file path=ppt/slides/_rels/slide2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3.jpg"/><Relationship Id="rId5" Type="http://schemas.openxmlformats.org/officeDocument/2006/relationships/image" Target="../media/image42.jpg"/><Relationship Id="rId4" Type="http://schemas.openxmlformats.org/officeDocument/2006/relationships/image" Target="../media/image41.jpg"/></Relationships>
</file>

<file path=ppt/slides/_rels/slide21.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a:stretch/>
        </p:blipFill>
        <p:spPr>
          <a:xfrm>
            <a:off x="2057400" y="1828800"/>
            <a:ext cx="5648325" cy="3857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2"/>
          <p:cNvSpPr txBox="1"/>
          <p:nvPr/>
        </p:nvSpPr>
        <p:spPr>
          <a:xfrm>
            <a:off x="0" y="1219200"/>
            <a:ext cx="1676400" cy="36623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Shafts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pic>
        <p:nvPicPr>
          <p:cNvPr id="61" name="Google Shape;61;p2"/>
          <p:cNvPicPr preferRelativeResize="0"/>
          <p:nvPr/>
        </p:nvPicPr>
        <p:blipFill rotWithShape="1">
          <a:blip r:embed="rId3">
            <a:alphaModFix/>
          </a:blip>
          <a:srcRect/>
          <a:stretch/>
        </p:blipFill>
        <p:spPr>
          <a:xfrm>
            <a:off x="2819400" y="2895600"/>
            <a:ext cx="4500562" cy="1727200"/>
          </a:xfrm>
          <a:prstGeom prst="rect">
            <a:avLst/>
          </a:prstGeom>
          <a:noFill/>
          <a:ln>
            <a:noFill/>
          </a:ln>
        </p:spPr>
      </p:pic>
      <p:pic>
        <p:nvPicPr>
          <p:cNvPr id="62" name="Google Shape;62;p2"/>
          <p:cNvPicPr preferRelativeResize="0"/>
          <p:nvPr/>
        </p:nvPicPr>
        <p:blipFill rotWithShape="1">
          <a:blip r:embed="rId4">
            <a:alphaModFix/>
          </a:blip>
          <a:srcRect/>
          <a:stretch/>
        </p:blipFill>
        <p:spPr>
          <a:xfrm>
            <a:off x="2833687" y="4608512"/>
            <a:ext cx="4572000" cy="1743075"/>
          </a:xfrm>
          <a:prstGeom prst="rect">
            <a:avLst/>
          </a:prstGeom>
          <a:noFill/>
          <a:ln>
            <a:noFill/>
          </a:ln>
        </p:spPr>
      </p:pic>
      <p:sp>
        <p:nvSpPr>
          <p:cNvPr id="63" name="Google Shape;63;p2"/>
          <p:cNvSpPr txBox="1"/>
          <p:nvPr/>
        </p:nvSpPr>
        <p:spPr>
          <a:xfrm>
            <a:off x="2057400" y="1550987"/>
            <a:ext cx="6629400" cy="1200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22222"/>
              </a:buClr>
              <a:buSzPts val="1800"/>
              <a:buFont typeface="Poppins"/>
              <a:buNone/>
            </a:pPr>
            <a:r>
              <a:rPr lang="en-US" sz="1800" b="0" i="0" u="none" strike="noStrike" cap="none">
                <a:solidFill>
                  <a:srgbClr val="222222"/>
                </a:solidFill>
                <a:latin typeface="Poppins"/>
                <a:ea typeface="Poppins"/>
                <a:cs typeface="Poppins"/>
                <a:sym typeface="Poppins"/>
              </a:rPr>
              <a:t>A </a:t>
            </a:r>
            <a:r>
              <a:rPr lang="en-US" sz="1800" b="1" i="0" u="none" strike="noStrike" cap="none">
                <a:solidFill>
                  <a:srgbClr val="222222"/>
                </a:solidFill>
                <a:latin typeface="Poppins"/>
                <a:ea typeface="Poppins"/>
                <a:cs typeface="Poppins"/>
                <a:sym typeface="Poppins"/>
              </a:rPr>
              <a:t>shaft is</a:t>
            </a:r>
            <a:r>
              <a:rPr lang="en-US" sz="1800" b="0" i="0" u="none" strike="noStrike" cap="none">
                <a:solidFill>
                  <a:srgbClr val="222222"/>
                </a:solidFill>
                <a:latin typeface="Poppins"/>
                <a:ea typeface="Poppins"/>
                <a:cs typeface="Poppins"/>
                <a:sym typeface="Poppins"/>
              </a:rPr>
              <a:t> a rotating </a:t>
            </a:r>
            <a:r>
              <a:rPr lang="en-US" sz="1800" b="1" i="0" u="none" strike="noStrike" cap="none">
                <a:solidFill>
                  <a:srgbClr val="222222"/>
                </a:solidFill>
                <a:latin typeface="Poppins"/>
                <a:ea typeface="Poppins"/>
                <a:cs typeface="Poppins"/>
                <a:sym typeface="Poppins"/>
              </a:rPr>
              <a:t>machine</a:t>
            </a:r>
            <a:r>
              <a:rPr lang="en-US" sz="1800" b="0" i="0" u="none" strike="noStrike" cap="none">
                <a:solidFill>
                  <a:srgbClr val="222222"/>
                </a:solidFill>
                <a:latin typeface="Poppins"/>
                <a:ea typeface="Poppins"/>
                <a:cs typeface="Poppins"/>
                <a:sym typeface="Poppins"/>
              </a:rPr>
              <a:t> element, usually circular in cross section, which </a:t>
            </a:r>
            <a:r>
              <a:rPr lang="en-US" sz="1800" b="1" i="0" u="none" strike="noStrike" cap="none">
                <a:solidFill>
                  <a:srgbClr val="222222"/>
                </a:solidFill>
                <a:latin typeface="Poppins"/>
                <a:ea typeface="Poppins"/>
                <a:cs typeface="Poppins"/>
                <a:sym typeface="Poppins"/>
              </a:rPr>
              <a:t>is used</a:t>
            </a:r>
            <a:r>
              <a:rPr lang="en-US" sz="1800" b="0" i="0" u="none" strike="noStrike" cap="none">
                <a:solidFill>
                  <a:srgbClr val="222222"/>
                </a:solidFill>
                <a:latin typeface="Poppins"/>
                <a:ea typeface="Poppins"/>
                <a:cs typeface="Poppins"/>
                <a:sym typeface="Poppins"/>
              </a:rPr>
              <a:t> to transmit power from one part to another. The various members such as pulleys and gears </a:t>
            </a:r>
            <a:r>
              <a:rPr lang="en-US" sz="1800" b="1" i="0" u="none" strike="noStrike" cap="none">
                <a:solidFill>
                  <a:srgbClr val="222222"/>
                </a:solidFill>
                <a:latin typeface="Poppins"/>
                <a:ea typeface="Poppins"/>
                <a:cs typeface="Poppins"/>
                <a:sym typeface="Poppins"/>
              </a:rPr>
              <a:t>are</a:t>
            </a:r>
            <a:r>
              <a:rPr lang="en-US" sz="1800" b="0" i="0" u="none" strike="noStrike" cap="none">
                <a:solidFill>
                  <a:srgbClr val="222222"/>
                </a:solidFill>
                <a:latin typeface="Poppins"/>
                <a:ea typeface="Poppins"/>
                <a:cs typeface="Poppins"/>
                <a:sym typeface="Poppins"/>
              </a:rPr>
              <a:t> mounted on it.</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p:tgtEl>
                                          <p:spTgt spid="61"/>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 calcmode="lin" valueType="num">
                                      <p:cBhvr additive="base">
                                        <p:cTn id="12" dur="500"/>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txBox="1"/>
          <p:nvPr/>
        </p:nvSpPr>
        <p:spPr>
          <a:xfrm>
            <a:off x="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70" name="Google Shape;70;p3"/>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71" name="Google Shape;71;p3"/>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72" name="Google Shape;72;p3"/>
          <p:cNvSpPr txBox="1"/>
          <p:nvPr/>
        </p:nvSpPr>
        <p:spPr>
          <a:xfrm>
            <a:off x="0" y="1219200"/>
            <a:ext cx="1676400" cy="3025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73" name="Google Shape;73;p3"/>
          <p:cNvSpPr txBox="1"/>
          <p:nvPr/>
        </p:nvSpPr>
        <p:spPr>
          <a:xfrm>
            <a:off x="1676400" y="1219200"/>
            <a:ext cx="7467600" cy="10302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Poppins"/>
              <a:ea typeface="Poppins"/>
              <a:cs typeface="Poppins"/>
              <a:sym typeface="Poppins"/>
            </a:endParaRPr>
          </a:p>
          <a:p>
            <a:pPr marL="0" marR="0" lvl="0" indent="0" algn="l" rtl="0">
              <a:lnSpc>
                <a:spcPct val="100000"/>
              </a:lnSpc>
              <a:spcBef>
                <a:spcPts val="900"/>
              </a:spcBef>
              <a:spcAft>
                <a:spcPts val="0"/>
              </a:spcAft>
              <a:buClr>
                <a:schemeClr val="dk1"/>
              </a:buClr>
              <a:buSzPts val="1800"/>
              <a:buFont typeface="Poppins"/>
              <a:buNone/>
            </a:pPr>
            <a:r>
              <a:rPr lang="en-US" sz="1800" b="0" i="0" u="none" strike="noStrike" cap="none">
                <a:solidFill>
                  <a:schemeClr val="dk1"/>
                </a:solidFill>
                <a:latin typeface="Poppins"/>
                <a:ea typeface="Poppins"/>
                <a:cs typeface="Poppins"/>
                <a:sym typeface="Poppins"/>
              </a:rPr>
              <a:t>Shaft </a:t>
            </a:r>
            <a:r>
              <a:rPr lang="en-US" sz="1800" b="1" i="0" u="none" strike="noStrike" cap="none">
                <a:solidFill>
                  <a:schemeClr val="dk1"/>
                </a:solidFill>
                <a:latin typeface="Poppins"/>
                <a:ea typeface="Poppins"/>
                <a:cs typeface="Poppins"/>
                <a:sym typeface="Poppins"/>
              </a:rPr>
              <a:t>couplings are used</a:t>
            </a:r>
            <a:r>
              <a:rPr lang="en-US" sz="1800" b="0" i="0" u="none" strike="noStrike" cap="none">
                <a:solidFill>
                  <a:schemeClr val="dk1"/>
                </a:solidFill>
                <a:latin typeface="Poppins"/>
                <a:ea typeface="Poppins"/>
                <a:cs typeface="Poppins"/>
                <a:sym typeface="Poppins"/>
              </a:rPr>
              <a:t> for power and torque transmission between two rotating shafts.</a:t>
            </a:r>
            <a:endParaRPr sz="1400" b="0" i="0" u="none" strike="noStrike" cap="none">
              <a:solidFill>
                <a:srgbClr val="000000"/>
              </a:solidFill>
              <a:latin typeface="Arial"/>
              <a:ea typeface="Arial"/>
              <a:cs typeface="Arial"/>
              <a:sym typeface="Arial"/>
            </a:endParaRPr>
          </a:p>
        </p:txBody>
      </p:sp>
      <p:pic>
        <p:nvPicPr>
          <p:cNvPr id="74" name="Google Shape;74;p3" descr="disk coupling"/>
          <p:cNvPicPr preferRelativeResize="0"/>
          <p:nvPr/>
        </p:nvPicPr>
        <p:blipFill rotWithShape="1">
          <a:blip r:embed="rId3">
            <a:alphaModFix/>
          </a:blip>
          <a:srcRect/>
          <a:stretch/>
        </p:blipFill>
        <p:spPr>
          <a:xfrm>
            <a:off x="2433637" y="3048000"/>
            <a:ext cx="1974850" cy="2514600"/>
          </a:xfrm>
          <a:prstGeom prst="rect">
            <a:avLst/>
          </a:prstGeom>
          <a:noFill/>
          <a:ln>
            <a:noFill/>
          </a:ln>
        </p:spPr>
      </p:pic>
      <p:sp>
        <p:nvSpPr>
          <p:cNvPr id="75" name="Google Shape;75;p3"/>
          <p:cNvSpPr txBox="1"/>
          <p:nvPr/>
        </p:nvSpPr>
        <p:spPr>
          <a:xfrm>
            <a:off x="3124200" y="762000"/>
            <a:ext cx="1676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pic>
        <p:nvPicPr>
          <p:cNvPr id="76" name="Google Shape;76;p3"/>
          <p:cNvPicPr preferRelativeResize="0"/>
          <p:nvPr/>
        </p:nvPicPr>
        <p:blipFill rotWithShape="1">
          <a:blip r:embed="rId4">
            <a:alphaModFix/>
          </a:blip>
          <a:srcRect/>
          <a:stretch/>
        </p:blipFill>
        <p:spPr>
          <a:xfrm>
            <a:off x="5053012" y="2590800"/>
            <a:ext cx="3586162" cy="35242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6"/>
                                        </p:tgtEl>
                                        <p:attrNameLst>
                                          <p:attrName>style.visibility</p:attrName>
                                        </p:attrNameLst>
                                      </p:cBhvr>
                                      <p:to>
                                        <p:strVal val="visible"/>
                                      </p:to>
                                    </p:set>
                                    <p:anim calcmode="lin" valueType="num">
                                      <p:cBhvr additive="base">
                                        <p:cTn id="12" dur="500"/>
                                        <p:tgtEl>
                                          <p:spTgt spid="7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4"/>
          <p:cNvSpPr txBox="1"/>
          <p:nvPr/>
        </p:nvSpPr>
        <p:spPr>
          <a:xfrm>
            <a:off x="0" y="1219200"/>
            <a:ext cx="1676400" cy="3025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82" name="Google Shape;82;p4"/>
          <p:cNvSpPr txBox="1"/>
          <p:nvPr/>
        </p:nvSpPr>
        <p:spPr>
          <a:xfrm>
            <a:off x="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83" name="Google Shape;83;p4"/>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84" name="Google Shape;84;p4"/>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85" name="Google Shape;85;p4"/>
          <p:cNvSpPr txBox="1"/>
          <p:nvPr/>
        </p:nvSpPr>
        <p:spPr>
          <a:xfrm>
            <a:off x="1676400" y="1219200"/>
            <a:ext cx="7467600" cy="12620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1" i="0" u="none" strike="noStrike" cap="none">
              <a:solidFill>
                <a:schemeClr val="dk1"/>
              </a:solidFill>
              <a:latin typeface="Poppins"/>
              <a:ea typeface="Poppins"/>
              <a:cs typeface="Poppins"/>
              <a:sym typeface="Poppins"/>
            </a:endParaRPr>
          </a:p>
          <a:p>
            <a:pPr marL="0" marR="0" lvl="0" indent="0" algn="l" rtl="0">
              <a:lnSpc>
                <a:spcPct val="100000"/>
              </a:lnSpc>
              <a:spcBef>
                <a:spcPts val="1200"/>
              </a:spcBef>
              <a:spcAft>
                <a:spcPts val="0"/>
              </a:spcAft>
              <a:buClr>
                <a:schemeClr val="dk1"/>
              </a:buClr>
              <a:buSzPts val="2400"/>
              <a:buFont typeface="Poppins"/>
              <a:buNone/>
            </a:pPr>
            <a:r>
              <a:rPr lang="en-US" sz="2400" b="0" i="0" u="none" strike="noStrike" cap="none">
                <a:solidFill>
                  <a:schemeClr val="dk1"/>
                </a:solidFill>
                <a:latin typeface="Poppins"/>
                <a:ea typeface="Poppins"/>
                <a:cs typeface="Poppins"/>
                <a:sym typeface="Poppins"/>
              </a:rPr>
              <a:t>A toothed mechanism used to transmit motion either to shafts (parallel or perpendicular) or racks.</a:t>
            </a:r>
            <a:endParaRPr sz="1400" b="0" i="0" u="none" strike="noStrike" cap="none">
              <a:solidFill>
                <a:srgbClr val="000000"/>
              </a:solidFill>
              <a:latin typeface="Arial"/>
              <a:ea typeface="Arial"/>
              <a:cs typeface="Arial"/>
              <a:sym typeface="Arial"/>
            </a:endParaRPr>
          </a:p>
        </p:txBody>
      </p:sp>
      <p:pic>
        <p:nvPicPr>
          <p:cNvPr id="86" name="Google Shape;86;p4" descr="rack"/>
          <p:cNvPicPr preferRelativeResize="0"/>
          <p:nvPr/>
        </p:nvPicPr>
        <p:blipFill rotWithShape="1">
          <a:blip r:embed="rId3">
            <a:alphaModFix/>
          </a:blip>
          <a:srcRect/>
          <a:stretch/>
        </p:blipFill>
        <p:spPr>
          <a:xfrm>
            <a:off x="3886200" y="2971800"/>
            <a:ext cx="1771650" cy="2686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5"/>
          <p:cNvSpPr txBox="1"/>
          <p:nvPr/>
        </p:nvSpPr>
        <p:spPr>
          <a:xfrm>
            <a:off x="0" y="1219200"/>
            <a:ext cx="1676400" cy="44926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Spur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Bevel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Worm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93" name="Google Shape;93;p5"/>
          <p:cNvSpPr txBox="1"/>
          <p:nvPr/>
        </p:nvSpPr>
        <p:spPr>
          <a:xfrm>
            <a:off x="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94" name="Google Shape;94;p5"/>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95" name="Google Shape;95;p5"/>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96" name="Google Shape;96;p5"/>
          <p:cNvSpPr txBox="1"/>
          <p:nvPr/>
        </p:nvSpPr>
        <p:spPr>
          <a:xfrm>
            <a:off x="1676400" y="1219200"/>
            <a:ext cx="7467600" cy="8921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1" i="0" u="none" strike="noStrike" cap="none">
              <a:solidFill>
                <a:schemeClr val="dk1"/>
              </a:solidFill>
              <a:latin typeface="Poppins"/>
              <a:ea typeface="Poppins"/>
              <a:cs typeface="Poppins"/>
              <a:sym typeface="Poppins"/>
            </a:endParaRPr>
          </a:p>
          <a:p>
            <a:pPr marL="0" marR="0" lvl="0" indent="0" algn="l" rtl="0">
              <a:lnSpc>
                <a:spcPct val="100000"/>
              </a:lnSpc>
              <a:spcBef>
                <a:spcPts val="1200"/>
              </a:spcBef>
              <a:spcAft>
                <a:spcPts val="0"/>
              </a:spcAft>
              <a:buClr>
                <a:schemeClr val="dk1"/>
              </a:buClr>
              <a:buSzPts val="2400"/>
              <a:buFont typeface="Poppins"/>
              <a:buNone/>
            </a:pPr>
            <a:r>
              <a:rPr lang="en-US" sz="2400" b="0" i="0" u="none" strike="noStrike" cap="none">
                <a:solidFill>
                  <a:schemeClr val="dk1"/>
                </a:solidFill>
                <a:latin typeface="Poppins"/>
                <a:ea typeface="Poppins"/>
                <a:cs typeface="Poppins"/>
                <a:sym typeface="Poppins"/>
              </a:rPr>
              <a:t>Spur </a:t>
            </a:r>
            <a:r>
              <a:rPr lang="en-US" sz="2400" b="1" i="0" u="none" strike="noStrike" cap="none">
                <a:solidFill>
                  <a:schemeClr val="dk1"/>
                </a:solidFill>
                <a:latin typeface="Poppins"/>
                <a:ea typeface="Poppins"/>
                <a:cs typeface="Poppins"/>
                <a:sym typeface="Poppins"/>
              </a:rPr>
              <a:t>Gears</a:t>
            </a:r>
            <a:r>
              <a:rPr lang="en-US" sz="2400" b="0" i="0" u="none" strike="noStrike" cap="none">
                <a:solidFill>
                  <a:schemeClr val="dk1"/>
                </a:solidFill>
                <a:latin typeface="Poppins"/>
                <a:ea typeface="Poppins"/>
                <a:cs typeface="Poppins"/>
                <a:sym typeface="Poppins"/>
              </a:rPr>
              <a:t> are usually </a:t>
            </a:r>
            <a:r>
              <a:rPr lang="en-US" sz="2400" b="1" i="0" u="none" strike="noStrike" cap="none">
                <a:solidFill>
                  <a:schemeClr val="dk1"/>
                </a:solidFill>
                <a:latin typeface="Poppins"/>
                <a:ea typeface="Poppins"/>
                <a:cs typeface="Poppins"/>
                <a:sym typeface="Poppins"/>
              </a:rPr>
              <a:t>used</a:t>
            </a:r>
            <a:r>
              <a:rPr lang="en-US" sz="2400" b="0" i="0" u="none" strike="noStrike" cap="none">
                <a:solidFill>
                  <a:schemeClr val="dk1"/>
                </a:solidFill>
                <a:latin typeface="Poppins"/>
                <a:ea typeface="Poppins"/>
                <a:cs typeface="Poppins"/>
                <a:sym typeface="Poppins"/>
              </a:rPr>
              <a:t> for "slow speeds."</a:t>
            </a:r>
            <a:endParaRPr sz="1400" b="0" i="0" u="none" strike="noStrike" cap="none">
              <a:solidFill>
                <a:srgbClr val="000000"/>
              </a:solidFill>
              <a:latin typeface="Arial"/>
              <a:ea typeface="Arial"/>
              <a:cs typeface="Arial"/>
              <a:sym typeface="Arial"/>
            </a:endParaRPr>
          </a:p>
        </p:txBody>
      </p:sp>
      <p:pic>
        <p:nvPicPr>
          <p:cNvPr id="97" name="Google Shape;97;p5"/>
          <p:cNvPicPr preferRelativeResize="0"/>
          <p:nvPr/>
        </p:nvPicPr>
        <p:blipFill rotWithShape="1">
          <a:blip r:embed="rId3">
            <a:alphaModFix/>
          </a:blip>
          <a:srcRect/>
          <a:stretch/>
        </p:blipFill>
        <p:spPr>
          <a:xfrm>
            <a:off x="1978025" y="3328987"/>
            <a:ext cx="1362075" cy="1905000"/>
          </a:xfrm>
          <a:prstGeom prst="rect">
            <a:avLst/>
          </a:prstGeom>
          <a:noFill/>
          <a:ln>
            <a:noFill/>
          </a:ln>
        </p:spPr>
      </p:pic>
      <p:pic>
        <p:nvPicPr>
          <p:cNvPr id="98" name="Google Shape;98;p5"/>
          <p:cNvPicPr preferRelativeResize="0"/>
          <p:nvPr/>
        </p:nvPicPr>
        <p:blipFill rotWithShape="1">
          <a:blip r:embed="rId4">
            <a:alphaModFix/>
          </a:blip>
          <a:srcRect/>
          <a:stretch/>
        </p:blipFill>
        <p:spPr>
          <a:xfrm>
            <a:off x="5181600" y="2514600"/>
            <a:ext cx="2143125" cy="2143125"/>
          </a:xfrm>
          <a:prstGeom prst="rect">
            <a:avLst/>
          </a:prstGeom>
          <a:noFill/>
          <a:ln>
            <a:noFill/>
          </a:ln>
        </p:spPr>
      </p:pic>
      <p:pic>
        <p:nvPicPr>
          <p:cNvPr id="99" name="Google Shape;99;p5"/>
          <p:cNvPicPr preferRelativeResize="0"/>
          <p:nvPr/>
        </p:nvPicPr>
        <p:blipFill rotWithShape="1">
          <a:blip r:embed="rId5">
            <a:alphaModFix/>
          </a:blip>
          <a:srcRect/>
          <a:stretch/>
        </p:blipFill>
        <p:spPr>
          <a:xfrm>
            <a:off x="6934200" y="3879850"/>
            <a:ext cx="1935162" cy="1554162"/>
          </a:xfrm>
          <a:prstGeom prst="rect">
            <a:avLst/>
          </a:prstGeom>
          <a:noFill/>
          <a:ln>
            <a:noFill/>
          </a:ln>
        </p:spPr>
      </p:pic>
      <p:pic>
        <p:nvPicPr>
          <p:cNvPr id="100" name="Google Shape;100;p5"/>
          <p:cNvPicPr preferRelativeResize="0"/>
          <p:nvPr/>
        </p:nvPicPr>
        <p:blipFill rotWithShape="1">
          <a:blip r:embed="rId6">
            <a:alphaModFix/>
          </a:blip>
          <a:srcRect/>
          <a:stretch/>
        </p:blipFill>
        <p:spPr>
          <a:xfrm>
            <a:off x="4127500" y="4670425"/>
            <a:ext cx="2619375" cy="1743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 calcmode="lin" valueType="num">
                                      <p:cBhvr additive="base">
                                        <p:cTn id="7" dur="500"/>
                                        <p:tgtEl>
                                          <p:spTgt spid="98"/>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9"/>
                                        </p:tgtEl>
                                        <p:attrNameLst>
                                          <p:attrName>style.visibility</p:attrName>
                                        </p:attrNameLst>
                                      </p:cBhvr>
                                      <p:to>
                                        <p:strVal val="visible"/>
                                      </p:to>
                                    </p:set>
                                    <p:anim calcmode="lin" valueType="num">
                                      <p:cBhvr additive="base">
                                        <p:cTn id="12" dur="500"/>
                                        <p:tgtEl>
                                          <p:spTgt spid="99"/>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0"/>
                                        </p:tgtEl>
                                        <p:attrNameLst>
                                          <p:attrName>style.visibility</p:attrName>
                                        </p:attrNameLst>
                                      </p:cBhvr>
                                      <p:to>
                                        <p:strVal val="visible"/>
                                      </p:to>
                                    </p:set>
                                    <p:anim calcmode="lin" valueType="num">
                                      <p:cBhvr additive="base">
                                        <p:cTn id="17" dur="500"/>
                                        <p:tgtEl>
                                          <p:spTgt spid="1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6"/>
          <p:cNvSpPr txBox="1"/>
          <p:nvPr/>
        </p:nvSpPr>
        <p:spPr>
          <a:xfrm>
            <a:off x="0" y="1219200"/>
            <a:ext cx="1676400" cy="44926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a:t>
            </a:r>
            <a:r>
              <a:rPr lang="en-US" sz="1600" b="0" i="0" u="none" strike="noStrike" cap="none">
                <a:solidFill>
                  <a:schemeClr val="folHlink"/>
                </a:solidFill>
                <a:latin typeface="Arial"/>
                <a:ea typeface="Arial"/>
                <a:cs typeface="Arial"/>
                <a:sym typeface="Arial"/>
              </a:rPr>
              <a:t>Spur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Bevel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Worm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07" name="Google Shape;107;p6"/>
          <p:cNvSpPr txBox="1"/>
          <p:nvPr/>
        </p:nvSpPr>
        <p:spPr>
          <a:xfrm>
            <a:off x="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108" name="Google Shape;108;p6"/>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109" name="Google Shape;109;p6"/>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110" name="Google Shape;110;p6"/>
          <p:cNvSpPr txBox="1"/>
          <p:nvPr/>
        </p:nvSpPr>
        <p:spPr>
          <a:xfrm>
            <a:off x="1676400" y="1219200"/>
            <a:ext cx="7467600" cy="12620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Poppins"/>
              <a:ea typeface="Poppins"/>
              <a:cs typeface="Poppins"/>
              <a:sym typeface="Poppins"/>
            </a:endParaRPr>
          </a:p>
          <a:p>
            <a:pPr marL="0" marR="0" lvl="0" indent="0" algn="l" rtl="0">
              <a:lnSpc>
                <a:spcPct val="100000"/>
              </a:lnSpc>
              <a:spcBef>
                <a:spcPts val="1200"/>
              </a:spcBef>
              <a:spcAft>
                <a:spcPts val="0"/>
              </a:spcAft>
              <a:buClr>
                <a:schemeClr val="dk1"/>
              </a:buClr>
              <a:buSzPts val="2400"/>
              <a:buFont typeface="Poppins"/>
              <a:buNone/>
            </a:pPr>
            <a:r>
              <a:rPr lang="en-US" sz="2400" b="0" i="0" u="none" strike="noStrike" cap="none">
                <a:solidFill>
                  <a:schemeClr val="dk1"/>
                </a:solidFill>
                <a:latin typeface="Poppins"/>
                <a:ea typeface="Poppins"/>
                <a:cs typeface="Poppins"/>
                <a:sym typeface="Poppins"/>
              </a:rPr>
              <a:t>Bevel </a:t>
            </a:r>
            <a:r>
              <a:rPr lang="en-US" sz="2400" b="1" i="0" u="none" strike="noStrike" cap="none">
                <a:solidFill>
                  <a:schemeClr val="dk1"/>
                </a:solidFill>
                <a:latin typeface="Poppins"/>
                <a:ea typeface="Poppins"/>
                <a:cs typeface="Poppins"/>
                <a:sym typeface="Poppins"/>
              </a:rPr>
              <a:t>Gears are used</a:t>
            </a:r>
            <a:r>
              <a:rPr lang="en-US" sz="2400" b="0" i="0" u="none" strike="noStrike" cap="none">
                <a:solidFill>
                  <a:schemeClr val="dk1"/>
                </a:solidFill>
                <a:latin typeface="Poppins"/>
                <a:ea typeface="Poppins"/>
                <a:cs typeface="Poppins"/>
                <a:sym typeface="Poppins"/>
              </a:rPr>
              <a:t> for objects that reach higher speeds.</a:t>
            </a:r>
            <a:endParaRPr sz="1400" b="0" i="0" u="none" strike="noStrike" cap="none">
              <a:solidFill>
                <a:srgbClr val="000000"/>
              </a:solidFill>
              <a:latin typeface="Arial"/>
              <a:ea typeface="Arial"/>
              <a:cs typeface="Arial"/>
              <a:sym typeface="Arial"/>
            </a:endParaRPr>
          </a:p>
        </p:txBody>
      </p:sp>
      <p:pic>
        <p:nvPicPr>
          <p:cNvPr id="111" name="Google Shape;111;p6"/>
          <p:cNvPicPr preferRelativeResize="0"/>
          <p:nvPr/>
        </p:nvPicPr>
        <p:blipFill rotWithShape="1">
          <a:blip r:embed="rId3">
            <a:alphaModFix/>
          </a:blip>
          <a:srcRect/>
          <a:stretch/>
        </p:blipFill>
        <p:spPr>
          <a:xfrm>
            <a:off x="2057400" y="3581400"/>
            <a:ext cx="2566987" cy="1414462"/>
          </a:xfrm>
          <a:prstGeom prst="rect">
            <a:avLst/>
          </a:prstGeom>
          <a:noFill/>
          <a:ln>
            <a:noFill/>
          </a:ln>
        </p:spPr>
      </p:pic>
      <p:pic>
        <p:nvPicPr>
          <p:cNvPr id="112" name="Google Shape;112;p6"/>
          <p:cNvPicPr preferRelativeResize="0"/>
          <p:nvPr/>
        </p:nvPicPr>
        <p:blipFill rotWithShape="1">
          <a:blip r:embed="rId4">
            <a:alphaModFix/>
          </a:blip>
          <a:srcRect/>
          <a:stretch/>
        </p:blipFill>
        <p:spPr>
          <a:xfrm>
            <a:off x="5638800" y="2690812"/>
            <a:ext cx="2571750" cy="1781175"/>
          </a:xfrm>
          <a:prstGeom prst="rect">
            <a:avLst/>
          </a:prstGeom>
          <a:noFill/>
          <a:ln>
            <a:noFill/>
          </a:ln>
        </p:spPr>
      </p:pic>
      <p:pic>
        <p:nvPicPr>
          <p:cNvPr id="113" name="Google Shape;113;p6"/>
          <p:cNvPicPr preferRelativeResize="0"/>
          <p:nvPr/>
        </p:nvPicPr>
        <p:blipFill rotWithShape="1">
          <a:blip r:embed="rId5">
            <a:alphaModFix/>
          </a:blip>
          <a:srcRect/>
          <a:stretch/>
        </p:blipFill>
        <p:spPr>
          <a:xfrm>
            <a:off x="5575300" y="4748212"/>
            <a:ext cx="2552700" cy="1790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 calcmode="lin" valueType="num">
                                      <p:cBhvr additive="base">
                                        <p:cTn id="7" dur="500"/>
                                        <p:tgtEl>
                                          <p:spTgt spid="11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3"/>
                                        </p:tgtEl>
                                        <p:attrNameLst>
                                          <p:attrName>style.visibility</p:attrName>
                                        </p:attrNameLst>
                                      </p:cBhvr>
                                      <p:to>
                                        <p:strVal val="visible"/>
                                      </p:to>
                                    </p:set>
                                    <p:anim calcmode="lin" valueType="num">
                                      <p:cBhvr additive="base">
                                        <p:cTn id="12" dur="500"/>
                                        <p:tgtEl>
                                          <p:spTgt spid="1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txBox="1"/>
          <p:nvPr/>
        </p:nvSpPr>
        <p:spPr>
          <a:xfrm>
            <a:off x="0" y="1219200"/>
            <a:ext cx="1676400" cy="44926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a:t>
            </a:r>
            <a:r>
              <a:rPr lang="en-US" sz="1600" b="0" i="0" u="none" strike="noStrike" cap="none">
                <a:solidFill>
                  <a:schemeClr val="folHlink"/>
                </a:solidFill>
                <a:latin typeface="Arial"/>
                <a:ea typeface="Arial"/>
                <a:cs typeface="Arial"/>
                <a:sym typeface="Arial"/>
              </a:rPr>
              <a:t>Spur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Bevel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a:t>
            </a:r>
            <a:r>
              <a:rPr lang="en-US" sz="1600" b="1" i="0" u="none" strike="noStrike" cap="none">
                <a:solidFill>
                  <a:schemeClr val="accent2"/>
                </a:solidFill>
                <a:latin typeface="Arial"/>
                <a:ea typeface="Arial"/>
                <a:cs typeface="Arial"/>
                <a:sym typeface="Arial"/>
              </a:rPr>
              <a:t>Worm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20" name="Google Shape;120;p7"/>
          <p:cNvSpPr txBox="1"/>
          <p:nvPr/>
        </p:nvSpPr>
        <p:spPr>
          <a:xfrm>
            <a:off x="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121" name="Google Shape;121;p7"/>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122" name="Google Shape;122;p7"/>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123" name="Google Shape;123;p7"/>
          <p:cNvSpPr txBox="1"/>
          <p:nvPr/>
        </p:nvSpPr>
        <p:spPr>
          <a:xfrm>
            <a:off x="1676400" y="1219200"/>
            <a:ext cx="7467600" cy="8921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1" i="0" u="none" strike="noStrike" cap="none">
              <a:solidFill>
                <a:schemeClr val="dk1"/>
              </a:solidFill>
              <a:latin typeface="Poppins"/>
              <a:ea typeface="Poppins"/>
              <a:cs typeface="Poppins"/>
              <a:sym typeface="Poppins"/>
            </a:endParaRPr>
          </a:p>
          <a:p>
            <a:pPr marL="0" marR="0" lvl="0" indent="0" algn="l" rtl="0">
              <a:lnSpc>
                <a:spcPct val="100000"/>
              </a:lnSpc>
              <a:spcBef>
                <a:spcPts val="1200"/>
              </a:spcBef>
              <a:spcAft>
                <a:spcPts val="0"/>
              </a:spcAft>
              <a:buClr>
                <a:schemeClr val="dk1"/>
              </a:buClr>
              <a:buSzPts val="2400"/>
              <a:buFont typeface="Poppins"/>
              <a:buNone/>
            </a:pPr>
            <a:r>
              <a:rPr lang="en-US" sz="2400" b="0" i="0" u="none" strike="noStrike" cap="none">
                <a:solidFill>
                  <a:schemeClr val="dk1"/>
                </a:solidFill>
                <a:latin typeface="Poppins"/>
                <a:ea typeface="Poppins"/>
                <a:cs typeface="Poppins"/>
                <a:sym typeface="Poppins"/>
              </a:rPr>
              <a:t>Worm </a:t>
            </a:r>
            <a:r>
              <a:rPr lang="en-US" sz="2400" b="1" i="0" u="none" strike="noStrike" cap="none">
                <a:solidFill>
                  <a:schemeClr val="dk1"/>
                </a:solidFill>
                <a:latin typeface="Poppins"/>
                <a:ea typeface="Poppins"/>
                <a:cs typeface="Poppins"/>
                <a:sym typeface="Poppins"/>
              </a:rPr>
              <a:t>Gears</a:t>
            </a:r>
            <a:r>
              <a:rPr lang="en-US" sz="2400" b="0" i="0" u="none" strike="noStrike" cap="none">
                <a:solidFill>
                  <a:schemeClr val="dk1"/>
                </a:solidFill>
                <a:latin typeface="Poppins"/>
                <a:ea typeface="Poppins"/>
                <a:cs typeface="Poppins"/>
                <a:sym typeface="Poppins"/>
              </a:rPr>
              <a:t> are often </a:t>
            </a:r>
            <a:r>
              <a:rPr lang="en-US" sz="2400" b="1" i="0" u="none" strike="noStrike" cap="none">
                <a:solidFill>
                  <a:schemeClr val="dk1"/>
                </a:solidFill>
                <a:latin typeface="Poppins"/>
                <a:ea typeface="Poppins"/>
                <a:cs typeface="Poppins"/>
                <a:sym typeface="Poppins"/>
              </a:rPr>
              <a:t>used</a:t>
            </a:r>
            <a:r>
              <a:rPr lang="en-US" sz="2400" b="0" i="0" u="none" strike="noStrike" cap="none">
                <a:solidFill>
                  <a:schemeClr val="dk1"/>
                </a:solidFill>
                <a:latin typeface="Poppins"/>
                <a:ea typeface="Poppins"/>
                <a:cs typeface="Poppins"/>
                <a:sym typeface="Poppins"/>
              </a:rPr>
              <a:t> to lock the </a:t>
            </a:r>
            <a:r>
              <a:rPr lang="en-US" sz="2400" b="1" i="0" u="none" strike="noStrike" cap="none">
                <a:solidFill>
                  <a:schemeClr val="dk1"/>
                </a:solidFill>
                <a:latin typeface="Poppins"/>
                <a:ea typeface="Poppins"/>
                <a:cs typeface="Poppins"/>
                <a:sym typeface="Poppins"/>
              </a:rPr>
              <a:t>gears</a:t>
            </a:r>
            <a:r>
              <a:rPr lang="en-US" sz="2400" b="0" i="0" u="none" strike="noStrike" cap="none">
                <a:solidFill>
                  <a:schemeClr val="dk1"/>
                </a:solidFill>
                <a:latin typeface="Poppins"/>
                <a:ea typeface="Poppins"/>
                <a:cs typeface="Poppins"/>
                <a:sym typeface="Poppins"/>
              </a:rPr>
              <a:t>.</a:t>
            </a:r>
            <a:endParaRPr sz="1400" b="0" i="0" u="none" strike="noStrike" cap="none">
              <a:solidFill>
                <a:srgbClr val="000000"/>
              </a:solidFill>
              <a:latin typeface="Arial"/>
              <a:ea typeface="Arial"/>
              <a:cs typeface="Arial"/>
              <a:sym typeface="Arial"/>
            </a:endParaRPr>
          </a:p>
        </p:txBody>
      </p:sp>
      <p:pic>
        <p:nvPicPr>
          <p:cNvPr id="124" name="Google Shape;124;p7"/>
          <p:cNvPicPr preferRelativeResize="0"/>
          <p:nvPr/>
        </p:nvPicPr>
        <p:blipFill rotWithShape="1">
          <a:blip r:embed="rId3">
            <a:alphaModFix/>
          </a:blip>
          <a:srcRect/>
          <a:stretch/>
        </p:blipFill>
        <p:spPr>
          <a:xfrm>
            <a:off x="2192337" y="3048000"/>
            <a:ext cx="2144712" cy="2035175"/>
          </a:xfrm>
          <a:prstGeom prst="rect">
            <a:avLst/>
          </a:prstGeom>
          <a:noFill/>
          <a:ln>
            <a:noFill/>
          </a:ln>
        </p:spPr>
      </p:pic>
      <p:pic>
        <p:nvPicPr>
          <p:cNvPr id="125" name="Google Shape;125;p7"/>
          <p:cNvPicPr preferRelativeResize="0"/>
          <p:nvPr/>
        </p:nvPicPr>
        <p:blipFill rotWithShape="1">
          <a:blip r:embed="rId4">
            <a:alphaModFix/>
          </a:blip>
          <a:srcRect/>
          <a:stretch/>
        </p:blipFill>
        <p:spPr>
          <a:xfrm>
            <a:off x="5486400" y="3048000"/>
            <a:ext cx="3276600" cy="304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additive="base">
                                        <p:cTn id="7" dur="500"/>
                                        <p:tgtEl>
                                          <p:spTgt spid="1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8"/>
          <p:cNvSpPr txBox="1"/>
          <p:nvPr/>
        </p:nvSpPr>
        <p:spPr>
          <a:xfrm>
            <a:off x="0" y="1219200"/>
            <a:ext cx="1676400" cy="3025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31" name="Google Shape;131;p8"/>
          <p:cNvSpPr txBox="1"/>
          <p:nvPr/>
        </p:nvSpPr>
        <p:spPr>
          <a:xfrm>
            <a:off x="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132" name="Google Shape;132;p8"/>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133" name="Google Shape;133;p8"/>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134" name="Google Shape;134;p8"/>
          <p:cNvSpPr txBox="1"/>
          <p:nvPr/>
        </p:nvSpPr>
        <p:spPr>
          <a:xfrm>
            <a:off x="1676400" y="1219200"/>
            <a:ext cx="7467600" cy="16319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1" i="0" u="sng" strike="noStrike" cap="none">
              <a:solidFill>
                <a:schemeClr val="dk1"/>
              </a:solidFill>
              <a:latin typeface="Poppins"/>
              <a:ea typeface="Poppins"/>
              <a:cs typeface="Poppins"/>
              <a:sym typeface="Poppins"/>
            </a:endParaRPr>
          </a:p>
          <a:p>
            <a:pPr marL="0" marR="0" lvl="0" indent="0" algn="l" rtl="0">
              <a:lnSpc>
                <a:spcPct val="100000"/>
              </a:lnSpc>
              <a:spcBef>
                <a:spcPts val="1200"/>
              </a:spcBef>
              <a:spcAft>
                <a:spcPts val="0"/>
              </a:spcAft>
              <a:buClr>
                <a:schemeClr val="dk1"/>
              </a:buClr>
              <a:buSzPts val="2400"/>
              <a:buFont typeface="Poppins"/>
              <a:buNone/>
            </a:pPr>
            <a:r>
              <a:rPr lang="en-US" sz="2400" b="0" i="0" u="none" strike="noStrike" cap="none">
                <a:solidFill>
                  <a:schemeClr val="dk1"/>
                </a:solidFill>
                <a:latin typeface="Poppins"/>
                <a:ea typeface="Poppins"/>
                <a:cs typeface="Poppins"/>
                <a:sym typeface="Poppins"/>
              </a:rPr>
              <a:t>Flexible drives are generally used for the transmission of power over comparatively long-distances.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p:nvPr/>
        </p:nvSpPr>
        <p:spPr>
          <a:xfrm>
            <a:off x="0" y="1219200"/>
            <a:ext cx="1676400" cy="44926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Flat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a:t>
            </a:r>
            <a:r>
              <a:rPr lang="en-US" sz="1600" b="0" i="0" u="none" strike="noStrike" cap="none">
                <a:solidFill>
                  <a:schemeClr val="folHlink"/>
                </a:solidFill>
                <a:latin typeface="Arial"/>
                <a:ea typeface="Arial"/>
                <a:cs typeface="Arial"/>
                <a:sym typeface="Arial"/>
              </a:rPr>
              <a:t>V-Belt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Chain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Timing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40" name="Google Shape;140;p9"/>
          <p:cNvSpPr txBox="1"/>
          <p:nvPr/>
        </p:nvSpPr>
        <p:spPr>
          <a:xfrm>
            <a:off x="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141" name="Google Shape;141;p9"/>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142" name="Google Shape;142;p9"/>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143" name="Google Shape;143;p9"/>
          <p:cNvSpPr txBox="1"/>
          <p:nvPr/>
        </p:nvSpPr>
        <p:spPr>
          <a:xfrm>
            <a:off x="1676400" y="1219200"/>
            <a:ext cx="7467600" cy="12620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1" i="0" u="sng" strike="noStrike" cap="none">
              <a:solidFill>
                <a:schemeClr val="dk1"/>
              </a:solidFill>
              <a:latin typeface="Poppins"/>
              <a:ea typeface="Poppins"/>
              <a:cs typeface="Poppins"/>
              <a:sym typeface="Poppins"/>
            </a:endParaRPr>
          </a:p>
          <a:p>
            <a:pPr marL="0" marR="0" lvl="0" indent="0" algn="l" rtl="0">
              <a:lnSpc>
                <a:spcPct val="100000"/>
              </a:lnSpc>
              <a:spcBef>
                <a:spcPts val="1200"/>
              </a:spcBef>
              <a:spcAft>
                <a:spcPts val="0"/>
              </a:spcAft>
              <a:buClr>
                <a:schemeClr val="dk1"/>
              </a:buClr>
              <a:buSzPts val="2400"/>
              <a:buFont typeface="Poppins"/>
              <a:buNone/>
            </a:pPr>
            <a:r>
              <a:rPr lang="en-US" sz="2400" b="1" i="0" u="none" strike="noStrike" cap="none">
                <a:solidFill>
                  <a:schemeClr val="dk1"/>
                </a:solidFill>
                <a:latin typeface="Poppins"/>
                <a:ea typeface="Poppins"/>
                <a:cs typeface="Poppins"/>
                <a:sym typeface="Poppins"/>
              </a:rPr>
              <a:t>Flat belts</a:t>
            </a:r>
            <a:r>
              <a:rPr lang="en-US" sz="2400" b="0" i="0" u="none" strike="noStrike" cap="none">
                <a:solidFill>
                  <a:schemeClr val="dk1"/>
                </a:solidFill>
                <a:latin typeface="Poppins"/>
                <a:ea typeface="Poppins"/>
                <a:cs typeface="Poppins"/>
                <a:sym typeface="Poppins"/>
              </a:rPr>
              <a:t> are forgiving of misalignment; however, proper alignment improves </a:t>
            </a:r>
            <a:r>
              <a:rPr lang="en-US" sz="2400" b="1" i="0" u="none" strike="noStrike" cap="none">
                <a:solidFill>
                  <a:schemeClr val="dk1"/>
                </a:solidFill>
                <a:latin typeface="Poppins"/>
                <a:ea typeface="Poppins"/>
                <a:cs typeface="Poppins"/>
                <a:sym typeface="Poppins"/>
              </a:rPr>
              <a:t>belt</a:t>
            </a:r>
            <a:r>
              <a:rPr lang="en-US" sz="2400" b="0" i="0" u="none" strike="noStrike" cap="none">
                <a:solidFill>
                  <a:schemeClr val="dk1"/>
                </a:solidFill>
                <a:latin typeface="Poppins"/>
                <a:ea typeface="Poppins"/>
                <a:cs typeface="Poppins"/>
                <a:sym typeface="Poppins"/>
              </a:rPr>
              <a:t> life for any drive. </a:t>
            </a:r>
            <a:endParaRPr sz="1400" b="0" i="0" u="none" strike="noStrike" cap="none">
              <a:solidFill>
                <a:srgbClr val="000000"/>
              </a:solidFill>
              <a:latin typeface="Arial"/>
              <a:ea typeface="Arial"/>
              <a:cs typeface="Arial"/>
              <a:sym typeface="Arial"/>
            </a:endParaRPr>
          </a:p>
        </p:txBody>
      </p:sp>
      <p:pic>
        <p:nvPicPr>
          <p:cNvPr id="144" name="Google Shape;144;p9"/>
          <p:cNvPicPr preferRelativeResize="0"/>
          <p:nvPr/>
        </p:nvPicPr>
        <p:blipFill rotWithShape="1">
          <a:blip r:embed="rId3">
            <a:alphaModFix/>
          </a:blip>
          <a:srcRect/>
          <a:stretch/>
        </p:blipFill>
        <p:spPr>
          <a:xfrm>
            <a:off x="2514600" y="3568700"/>
            <a:ext cx="4876800" cy="2143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anim calcmode="lin" valueType="num">
                                      <p:cBhvr additive="base">
                                        <p:cTn id="12" dur="500"/>
                                        <p:tgtEl>
                                          <p:spTgt spid="1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p:nvPr/>
        </p:nvSpPr>
        <p:spPr>
          <a:xfrm>
            <a:off x="0" y="1219200"/>
            <a:ext cx="1676400" cy="44926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a:t>
            </a:r>
            <a:r>
              <a:rPr lang="en-US" sz="1600" b="0" i="0" u="none" strike="noStrike" cap="none">
                <a:solidFill>
                  <a:schemeClr val="folHlink"/>
                </a:solidFill>
                <a:latin typeface="Arial"/>
                <a:ea typeface="Arial"/>
                <a:cs typeface="Arial"/>
                <a:sym typeface="Arial"/>
              </a:rPr>
              <a:t>Flat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V-Belt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Chain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Timing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50" name="Google Shape;150;p10"/>
          <p:cNvSpPr txBox="1"/>
          <p:nvPr/>
        </p:nvSpPr>
        <p:spPr>
          <a:xfrm>
            <a:off x="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151" name="Google Shape;151;p10"/>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152" name="Google Shape;152;p10"/>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153" name="Google Shape;153;p10"/>
          <p:cNvSpPr txBox="1"/>
          <p:nvPr/>
        </p:nvSpPr>
        <p:spPr>
          <a:xfrm>
            <a:off x="1676400" y="1219200"/>
            <a:ext cx="7467600" cy="29241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Poppins"/>
              <a:ea typeface="Poppins"/>
              <a:cs typeface="Poppins"/>
              <a:sym typeface="Poppins"/>
            </a:endParaRPr>
          </a:p>
          <a:p>
            <a:pPr marL="0" marR="0" lvl="0" indent="0" algn="l" rtl="0">
              <a:lnSpc>
                <a:spcPct val="100000"/>
              </a:lnSpc>
              <a:spcBef>
                <a:spcPts val="1200"/>
              </a:spcBef>
              <a:spcAft>
                <a:spcPts val="0"/>
              </a:spcAft>
              <a:buClr>
                <a:schemeClr val="dk1"/>
              </a:buClr>
              <a:buSzPts val="1600"/>
              <a:buFont typeface="Poppins"/>
              <a:buNone/>
            </a:pPr>
            <a:r>
              <a:rPr lang="en-US" sz="1600" b="0" i="0" u="none" strike="noStrike" cap="none">
                <a:solidFill>
                  <a:schemeClr val="dk1"/>
                </a:solidFill>
                <a:latin typeface="Poppins"/>
                <a:ea typeface="Poppins"/>
                <a:cs typeface="Poppins"/>
                <a:sym typeface="Poppins"/>
              </a:rPr>
              <a:t>Usually made of fabric and cord and impregnated with rubber. </a:t>
            </a:r>
            <a:r>
              <a:rPr lang="en-US" sz="2400" b="1" i="0" u="none" strike="noStrike" cap="none">
                <a:solidFill>
                  <a:schemeClr val="dk1"/>
                </a:solidFill>
                <a:latin typeface="Poppins"/>
                <a:ea typeface="Poppins"/>
                <a:cs typeface="Poppins"/>
                <a:sym typeface="Poppins"/>
              </a:rPr>
              <a:t>V</a:t>
            </a:r>
            <a:r>
              <a:rPr lang="en-US" sz="2400" b="0" i="0" u="none" strike="noStrike" cap="none">
                <a:solidFill>
                  <a:schemeClr val="dk1"/>
                </a:solidFill>
                <a:latin typeface="Poppins"/>
                <a:ea typeface="Poppins"/>
                <a:cs typeface="Poppins"/>
                <a:sym typeface="Poppins"/>
              </a:rPr>
              <a:t>-</a:t>
            </a:r>
            <a:r>
              <a:rPr lang="en-US" sz="2400" b="1" i="0" u="none" strike="noStrike" cap="none">
                <a:solidFill>
                  <a:schemeClr val="dk1"/>
                </a:solidFill>
                <a:latin typeface="Poppins"/>
                <a:ea typeface="Poppins"/>
                <a:cs typeface="Poppins"/>
                <a:sym typeface="Poppins"/>
              </a:rPr>
              <a:t>Belt drive</a:t>
            </a:r>
            <a:r>
              <a:rPr lang="en-US" sz="2400" b="0" i="0" u="none" strike="noStrike" cap="none">
                <a:solidFill>
                  <a:schemeClr val="dk1"/>
                </a:solidFill>
                <a:latin typeface="Poppins"/>
                <a:ea typeface="Poppins"/>
                <a:cs typeface="Poppins"/>
                <a:sym typeface="Poppins"/>
              </a:rPr>
              <a:t> system, the thread is the </a:t>
            </a:r>
            <a:r>
              <a:rPr lang="en-US" sz="2400" b="1" i="0" u="none" strike="noStrike" cap="none">
                <a:solidFill>
                  <a:schemeClr val="dk1"/>
                </a:solidFill>
                <a:latin typeface="Poppins"/>
                <a:ea typeface="Poppins"/>
                <a:cs typeface="Poppins"/>
                <a:sym typeface="Poppins"/>
              </a:rPr>
              <a:t>V</a:t>
            </a:r>
            <a:r>
              <a:rPr lang="en-US" sz="2400" b="0" i="0" u="none" strike="noStrike" cap="none">
                <a:solidFill>
                  <a:schemeClr val="dk1"/>
                </a:solidFill>
                <a:latin typeface="Poppins"/>
                <a:ea typeface="Poppins"/>
                <a:cs typeface="Poppins"/>
                <a:sym typeface="Poppins"/>
              </a:rPr>
              <a:t>-</a:t>
            </a:r>
            <a:r>
              <a:rPr lang="en-US" sz="2400" b="1" i="0" u="none" strike="noStrike" cap="none">
                <a:solidFill>
                  <a:schemeClr val="dk1"/>
                </a:solidFill>
                <a:latin typeface="Poppins"/>
                <a:ea typeface="Poppins"/>
                <a:cs typeface="Poppins"/>
                <a:sym typeface="Poppins"/>
              </a:rPr>
              <a:t>Belt</a:t>
            </a:r>
            <a:r>
              <a:rPr lang="en-US" sz="2400" b="0" i="0" u="none" strike="noStrike" cap="none">
                <a:solidFill>
                  <a:schemeClr val="dk1"/>
                </a:solidFill>
                <a:latin typeface="Poppins"/>
                <a:ea typeface="Poppins"/>
                <a:cs typeface="Poppins"/>
                <a:sym typeface="Poppins"/>
              </a:rPr>
              <a:t> and the rollers are called as pulleys. </a:t>
            </a:r>
            <a:r>
              <a:rPr lang="en-US" sz="2400" b="1" i="0" u="none" strike="noStrike" cap="none">
                <a:solidFill>
                  <a:schemeClr val="dk1"/>
                </a:solidFill>
                <a:latin typeface="Poppins"/>
                <a:ea typeface="Poppins"/>
                <a:cs typeface="Poppins"/>
                <a:sym typeface="Poppins"/>
              </a:rPr>
              <a:t>V</a:t>
            </a:r>
            <a:r>
              <a:rPr lang="en-US" sz="2400" b="0" i="0" u="none" strike="noStrike" cap="none">
                <a:solidFill>
                  <a:schemeClr val="dk1"/>
                </a:solidFill>
                <a:latin typeface="Poppins"/>
                <a:ea typeface="Poppins"/>
                <a:cs typeface="Poppins"/>
                <a:sym typeface="Poppins"/>
              </a:rPr>
              <a:t>-</a:t>
            </a:r>
            <a:r>
              <a:rPr lang="en-US" sz="2400" b="1" i="0" u="none" strike="noStrike" cap="none">
                <a:solidFill>
                  <a:schemeClr val="dk1"/>
                </a:solidFill>
                <a:latin typeface="Poppins"/>
                <a:ea typeface="Poppins"/>
                <a:cs typeface="Poppins"/>
                <a:sym typeface="Poppins"/>
              </a:rPr>
              <a:t>Belts</a:t>
            </a:r>
            <a:r>
              <a:rPr lang="en-US" sz="2400" b="0" i="0" u="none" strike="noStrike" cap="none">
                <a:solidFill>
                  <a:schemeClr val="dk1"/>
                </a:solidFill>
                <a:latin typeface="Poppins"/>
                <a:ea typeface="Poppins"/>
                <a:cs typeface="Poppins"/>
                <a:sym typeface="Poppins"/>
              </a:rPr>
              <a:t> are friction based power or torque transmitters. The power is transmitted from one pulley to the other </a:t>
            </a:r>
            <a:r>
              <a:rPr lang="en-US" sz="2400" b="1" i="0" u="none" strike="noStrike" cap="none">
                <a:solidFill>
                  <a:schemeClr val="dk1"/>
                </a:solidFill>
                <a:latin typeface="Poppins"/>
                <a:ea typeface="Poppins"/>
                <a:cs typeface="Poppins"/>
                <a:sym typeface="Poppins"/>
              </a:rPr>
              <a:t>by</a:t>
            </a:r>
            <a:r>
              <a:rPr lang="en-US" sz="2400" b="0" i="0" u="none" strike="noStrike" cap="none">
                <a:solidFill>
                  <a:schemeClr val="dk1"/>
                </a:solidFill>
                <a:latin typeface="Poppins"/>
                <a:ea typeface="Poppins"/>
                <a:cs typeface="Poppins"/>
                <a:sym typeface="Poppins"/>
              </a:rPr>
              <a:t> means of the friction between the </a:t>
            </a:r>
            <a:r>
              <a:rPr lang="en-US" sz="2400" b="1" i="0" u="none" strike="noStrike" cap="none">
                <a:solidFill>
                  <a:schemeClr val="dk1"/>
                </a:solidFill>
                <a:latin typeface="Poppins"/>
                <a:ea typeface="Poppins"/>
                <a:cs typeface="Poppins"/>
                <a:sym typeface="Poppins"/>
              </a:rPr>
              <a:t>belt</a:t>
            </a:r>
            <a:r>
              <a:rPr lang="en-US" sz="2400" b="0" i="0" u="none" strike="noStrike" cap="none">
                <a:solidFill>
                  <a:schemeClr val="dk1"/>
                </a:solidFill>
                <a:latin typeface="Poppins"/>
                <a:ea typeface="Poppins"/>
                <a:cs typeface="Poppins"/>
                <a:sym typeface="Poppins"/>
              </a:rPr>
              <a:t> and pulley.</a:t>
            </a:r>
            <a:endParaRPr sz="24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Poppins"/>
              <a:ea typeface="Poppins"/>
              <a:cs typeface="Poppins"/>
              <a:sym typeface="Poppins"/>
            </a:endParaRPr>
          </a:p>
        </p:txBody>
      </p:sp>
      <p:pic>
        <p:nvPicPr>
          <p:cNvPr id="154" name="Google Shape;154;p10"/>
          <p:cNvPicPr preferRelativeResize="0"/>
          <p:nvPr/>
        </p:nvPicPr>
        <p:blipFill rotWithShape="1">
          <a:blip r:embed="rId3">
            <a:alphaModFix/>
          </a:blip>
          <a:srcRect/>
          <a:stretch/>
        </p:blipFill>
        <p:spPr>
          <a:xfrm>
            <a:off x="2470150" y="4495800"/>
            <a:ext cx="1319212" cy="1628775"/>
          </a:xfrm>
          <a:prstGeom prst="rect">
            <a:avLst/>
          </a:prstGeom>
          <a:noFill/>
          <a:ln>
            <a:noFill/>
          </a:ln>
        </p:spPr>
      </p:pic>
      <p:pic>
        <p:nvPicPr>
          <p:cNvPr id="155" name="Google Shape;155;p10"/>
          <p:cNvPicPr preferRelativeResize="0"/>
          <p:nvPr/>
        </p:nvPicPr>
        <p:blipFill rotWithShape="1">
          <a:blip r:embed="rId4">
            <a:alphaModFix/>
          </a:blip>
          <a:srcRect/>
          <a:stretch/>
        </p:blipFill>
        <p:spPr>
          <a:xfrm>
            <a:off x="5105400" y="4344987"/>
            <a:ext cx="3448050" cy="1930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 calcmode="lin" valueType="num">
                                      <p:cBhvr additive="base">
                                        <p:cTn id="7" dur="500"/>
                                        <p:tgtEl>
                                          <p:spTgt spid="1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1"/>
          <p:cNvSpPr txBox="1"/>
          <p:nvPr/>
        </p:nvSpPr>
        <p:spPr>
          <a:xfrm>
            <a:off x="0" y="1219200"/>
            <a:ext cx="1676400" cy="44926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a:t>
            </a:r>
            <a:r>
              <a:rPr lang="en-US" sz="1600" b="0" i="0" u="none" strike="noStrike" cap="none">
                <a:solidFill>
                  <a:schemeClr val="folHlink"/>
                </a:solidFill>
                <a:latin typeface="Arial"/>
                <a:ea typeface="Arial"/>
                <a:cs typeface="Arial"/>
                <a:sym typeface="Arial"/>
              </a:rPr>
              <a:t>Flat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V-Belt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a:t>
            </a:r>
            <a:r>
              <a:rPr lang="en-US" sz="1600" b="1" i="0" u="none" strike="noStrike" cap="none">
                <a:solidFill>
                  <a:schemeClr val="accent2"/>
                </a:solidFill>
                <a:latin typeface="Arial"/>
                <a:ea typeface="Arial"/>
                <a:cs typeface="Arial"/>
                <a:sym typeface="Arial"/>
              </a:rPr>
              <a:t>Chain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Timing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61" name="Google Shape;161;p11"/>
          <p:cNvSpPr txBox="1"/>
          <p:nvPr/>
        </p:nvSpPr>
        <p:spPr>
          <a:xfrm>
            <a:off x="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162" name="Google Shape;162;p11"/>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163" name="Google Shape;163;p11"/>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164" name="Google Shape;164;p11"/>
          <p:cNvSpPr txBox="1"/>
          <p:nvPr/>
        </p:nvSpPr>
        <p:spPr>
          <a:xfrm>
            <a:off x="1676400" y="1219200"/>
            <a:ext cx="7467600" cy="16319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Poppins"/>
              <a:ea typeface="Poppins"/>
              <a:cs typeface="Poppins"/>
              <a:sym typeface="Poppins"/>
            </a:endParaRPr>
          </a:p>
          <a:p>
            <a:pPr marL="0" marR="0" lvl="0" indent="0" algn="l" rtl="0">
              <a:lnSpc>
                <a:spcPct val="100000"/>
              </a:lnSpc>
              <a:spcBef>
                <a:spcPts val="12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Roller </a:t>
            </a:r>
            <a:r>
              <a:rPr lang="en-US" sz="2400" b="1" i="0" u="none" strike="noStrike" cap="none">
                <a:solidFill>
                  <a:schemeClr val="dk1"/>
                </a:solidFill>
                <a:latin typeface="Times New Roman"/>
                <a:ea typeface="Times New Roman"/>
                <a:cs typeface="Times New Roman"/>
                <a:sym typeface="Times New Roman"/>
              </a:rPr>
              <a:t>chain</a:t>
            </a:r>
            <a:r>
              <a:rPr lang="en-US" sz="2400" b="0" i="0" u="none" strike="noStrike" cap="none">
                <a:solidFill>
                  <a:schemeClr val="dk1"/>
                </a:solidFill>
                <a:latin typeface="Times New Roman"/>
                <a:ea typeface="Times New Roman"/>
                <a:cs typeface="Times New Roman"/>
                <a:sym typeface="Times New Roman"/>
              </a:rPr>
              <a:t> and sprockets is a very efficient method of power transmission compared to (friction-drive) </a:t>
            </a:r>
            <a:r>
              <a:rPr lang="en-US" sz="2400" b="1" i="0" u="none" strike="noStrike" cap="none">
                <a:solidFill>
                  <a:schemeClr val="dk1"/>
                </a:solidFill>
                <a:latin typeface="Times New Roman"/>
                <a:ea typeface="Times New Roman"/>
                <a:cs typeface="Times New Roman"/>
                <a:sym typeface="Times New Roman"/>
              </a:rPr>
              <a:t>belts</a:t>
            </a:r>
            <a:r>
              <a:rPr lang="en-US" sz="2400" b="0" i="0" u="none" strike="noStrike" cap="none">
                <a:solidFill>
                  <a:schemeClr val="dk1"/>
                </a:solidFill>
                <a:latin typeface="Times New Roman"/>
                <a:ea typeface="Times New Roman"/>
                <a:cs typeface="Times New Roman"/>
                <a:sym typeface="Times New Roman"/>
              </a:rPr>
              <a:t>, </a:t>
            </a:r>
            <a:r>
              <a:rPr lang="en-US" sz="2400" b="1" i="0" u="none" strike="noStrike" cap="none">
                <a:solidFill>
                  <a:schemeClr val="dk1"/>
                </a:solidFill>
                <a:latin typeface="Times New Roman"/>
                <a:ea typeface="Times New Roman"/>
                <a:cs typeface="Times New Roman"/>
                <a:sym typeface="Times New Roman"/>
              </a:rPr>
              <a:t>with</a:t>
            </a:r>
            <a:r>
              <a:rPr lang="en-US" sz="2400" b="0" i="0" u="none" strike="noStrike" cap="none">
                <a:solidFill>
                  <a:schemeClr val="dk1"/>
                </a:solidFill>
                <a:latin typeface="Times New Roman"/>
                <a:ea typeface="Times New Roman"/>
                <a:cs typeface="Times New Roman"/>
                <a:sym typeface="Times New Roman"/>
              </a:rPr>
              <a:t> far less frictional loss.</a:t>
            </a:r>
            <a:endParaRPr sz="1400" b="0" i="0" u="none" strike="noStrike" cap="none">
              <a:solidFill>
                <a:srgbClr val="000000"/>
              </a:solidFill>
              <a:latin typeface="Arial"/>
              <a:ea typeface="Arial"/>
              <a:cs typeface="Arial"/>
              <a:sym typeface="Arial"/>
            </a:endParaRPr>
          </a:p>
        </p:txBody>
      </p:sp>
      <p:pic>
        <p:nvPicPr>
          <p:cNvPr id="165" name="Google Shape;165;p11" descr="chain"/>
          <p:cNvPicPr preferRelativeResize="0"/>
          <p:nvPr/>
        </p:nvPicPr>
        <p:blipFill rotWithShape="1">
          <a:blip r:embed="rId3">
            <a:alphaModFix/>
          </a:blip>
          <a:srcRect/>
          <a:stretch/>
        </p:blipFill>
        <p:spPr>
          <a:xfrm>
            <a:off x="2081212" y="4505325"/>
            <a:ext cx="2362200" cy="2028825"/>
          </a:xfrm>
          <a:prstGeom prst="rect">
            <a:avLst/>
          </a:prstGeom>
          <a:noFill/>
          <a:ln>
            <a:noFill/>
          </a:ln>
        </p:spPr>
      </p:pic>
      <p:pic>
        <p:nvPicPr>
          <p:cNvPr id="166" name="Google Shape;166;p11" descr="sprocket"/>
          <p:cNvPicPr preferRelativeResize="0"/>
          <p:nvPr/>
        </p:nvPicPr>
        <p:blipFill rotWithShape="1">
          <a:blip r:embed="rId4">
            <a:alphaModFix/>
          </a:blip>
          <a:srcRect/>
          <a:stretch/>
        </p:blipFill>
        <p:spPr>
          <a:xfrm>
            <a:off x="3200400" y="2851150"/>
            <a:ext cx="2390775" cy="2200275"/>
          </a:xfrm>
          <a:prstGeom prst="rect">
            <a:avLst/>
          </a:prstGeom>
          <a:noFill/>
          <a:ln>
            <a:noFill/>
          </a:ln>
        </p:spPr>
      </p:pic>
      <p:pic>
        <p:nvPicPr>
          <p:cNvPr id="167" name="Google Shape;167;p11"/>
          <p:cNvPicPr preferRelativeResize="0"/>
          <p:nvPr/>
        </p:nvPicPr>
        <p:blipFill rotWithShape="1">
          <a:blip r:embed="rId5">
            <a:alphaModFix/>
          </a:blip>
          <a:srcRect/>
          <a:stretch/>
        </p:blipFill>
        <p:spPr>
          <a:xfrm>
            <a:off x="6049962" y="2895600"/>
            <a:ext cx="2619375" cy="1743075"/>
          </a:xfrm>
          <a:prstGeom prst="rect">
            <a:avLst/>
          </a:prstGeom>
          <a:noFill/>
          <a:ln>
            <a:noFill/>
          </a:ln>
        </p:spPr>
      </p:pic>
      <p:pic>
        <p:nvPicPr>
          <p:cNvPr id="168" name="Google Shape;168;p11"/>
          <p:cNvPicPr preferRelativeResize="0"/>
          <p:nvPr/>
        </p:nvPicPr>
        <p:blipFill rotWithShape="1">
          <a:blip r:embed="rId6">
            <a:alphaModFix/>
          </a:blip>
          <a:srcRect/>
          <a:stretch/>
        </p:blipFill>
        <p:spPr>
          <a:xfrm>
            <a:off x="6049962" y="4787900"/>
            <a:ext cx="2619375" cy="1847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anim calcmode="lin" valueType="num">
                                      <p:cBhvr additive="base">
                                        <p:cTn id="7" dur="500"/>
                                        <p:tgtEl>
                                          <p:spTgt spid="167"/>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8"/>
                                        </p:tgtEl>
                                        <p:attrNameLst>
                                          <p:attrName>style.visibility</p:attrName>
                                        </p:attrNameLst>
                                      </p:cBhvr>
                                      <p:to>
                                        <p:strVal val="visible"/>
                                      </p:to>
                                    </p:set>
                                    <p:anim calcmode="lin" valueType="num">
                                      <p:cBhvr additive="base">
                                        <p:cTn id="12" dur="500"/>
                                        <p:tgtEl>
                                          <p:spTgt spid="1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txBox="1"/>
          <p:nvPr/>
        </p:nvSpPr>
        <p:spPr>
          <a:xfrm>
            <a:off x="0" y="1219200"/>
            <a:ext cx="1676400" cy="44926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a:t>
            </a:r>
            <a:r>
              <a:rPr lang="en-US" sz="1600" b="0" i="0" u="none" strike="noStrike" cap="none">
                <a:solidFill>
                  <a:schemeClr val="folHlink"/>
                </a:solidFill>
                <a:latin typeface="Arial"/>
                <a:ea typeface="Arial"/>
                <a:cs typeface="Arial"/>
                <a:sym typeface="Arial"/>
              </a:rPr>
              <a:t>Flat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V-Belt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Chain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Timing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74" name="Google Shape;174;p12"/>
          <p:cNvSpPr txBox="1"/>
          <p:nvPr/>
        </p:nvSpPr>
        <p:spPr>
          <a:xfrm>
            <a:off x="0" y="838200"/>
            <a:ext cx="16764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175" name="Google Shape;175;p12"/>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176" name="Google Shape;176;p12"/>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177" name="Google Shape;177;p12"/>
          <p:cNvSpPr txBox="1"/>
          <p:nvPr/>
        </p:nvSpPr>
        <p:spPr>
          <a:xfrm>
            <a:off x="1676400" y="1219200"/>
            <a:ext cx="7467600" cy="3073400"/>
          </a:xfrm>
          <a:prstGeom prst="rect">
            <a:avLst/>
          </a:prstGeom>
          <a:noFill/>
          <a:ln>
            <a:noFill/>
          </a:ln>
        </p:spPr>
        <p:txBody>
          <a:bodyPr spcFirstLastPara="1" wrap="square" lIns="91425" tIns="45700" rIns="91425" bIns="45700" anchor="t" anchorCtr="0">
            <a:spAutoFit/>
          </a:bodyPr>
          <a:lstStyle/>
          <a:p>
            <a:pPr marL="0" marR="0" lvl="0" indent="225425" algn="l" rtl="0">
              <a:lnSpc>
                <a:spcPct val="100000"/>
              </a:lnSpc>
              <a:spcBef>
                <a:spcPts val="0"/>
              </a:spcBef>
              <a:spcAft>
                <a:spcPts val="0"/>
              </a:spcAft>
              <a:buClr>
                <a:schemeClr val="dk1"/>
              </a:buClr>
              <a:buSzPts val="1600"/>
              <a:buFont typeface="Times New Roman"/>
              <a:buNone/>
            </a:pPr>
            <a:endParaRPr sz="1600" b="1" i="0" u="none" strike="noStrike" cap="none">
              <a:solidFill>
                <a:schemeClr val="dk1"/>
              </a:solidFill>
              <a:latin typeface="Poppins"/>
              <a:ea typeface="Poppins"/>
              <a:cs typeface="Poppins"/>
              <a:sym typeface="Poppins"/>
            </a:endParaRPr>
          </a:p>
          <a:p>
            <a:pPr marL="627062" marR="0" lvl="1" indent="-169862" algn="l" rtl="0">
              <a:lnSpc>
                <a:spcPct val="100000"/>
              </a:lnSpc>
              <a:spcBef>
                <a:spcPts val="700"/>
              </a:spcBef>
              <a:spcAft>
                <a:spcPts val="0"/>
              </a:spcAft>
              <a:buClr>
                <a:schemeClr val="dk1"/>
              </a:buClr>
              <a:buSzPts val="1400"/>
              <a:buFont typeface="Poppins"/>
              <a:buChar char="•"/>
            </a:pPr>
            <a:r>
              <a:rPr lang="en-US" sz="1400" b="0" i="0" u="none" strike="noStrike" cap="none">
                <a:solidFill>
                  <a:schemeClr val="dk1"/>
                </a:solidFill>
                <a:latin typeface="Poppins"/>
                <a:ea typeface="Poppins"/>
                <a:cs typeface="Poppins"/>
                <a:sym typeface="Poppins"/>
              </a:rPr>
              <a:t>High Mechanical Efficiency</a:t>
            </a:r>
            <a:endParaRPr sz="1400" b="0" i="0" u="none" strike="noStrike" cap="none">
              <a:solidFill>
                <a:srgbClr val="000000"/>
              </a:solidFill>
              <a:latin typeface="Arial"/>
              <a:ea typeface="Arial"/>
              <a:cs typeface="Arial"/>
              <a:sym typeface="Arial"/>
            </a:endParaRPr>
          </a:p>
          <a:p>
            <a:pPr marL="627062" marR="0" lvl="1" indent="-169862" algn="l" rtl="0">
              <a:lnSpc>
                <a:spcPct val="100000"/>
              </a:lnSpc>
              <a:spcBef>
                <a:spcPts val="700"/>
              </a:spcBef>
              <a:spcAft>
                <a:spcPts val="0"/>
              </a:spcAft>
              <a:buClr>
                <a:schemeClr val="dk1"/>
              </a:buClr>
              <a:buSzPts val="1400"/>
              <a:buFont typeface="Poppins"/>
              <a:buChar char="•"/>
            </a:pPr>
            <a:r>
              <a:rPr lang="en-US" sz="1400" b="0" i="0" u="none" strike="noStrike" cap="none">
                <a:solidFill>
                  <a:schemeClr val="dk1"/>
                </a:solidFill>
                <a:latin typeface="Poppins"/>
                <a:ea typeface="Poppins"/>
                <a:cs typeface="Poppins"/>
                <a:sym typeface="Poppins"/>
              </a:rPr>
              <a:t>Non-slip operation (positive drive)</a:t>
            </a:r>
            <a:endParaRPr sz="1400" b="0" i="0" u="none" strike="noStrike" cap="none">
              <a:solidFill>
                <a:srgbClr val="000000"/>
              </a:solidFill>
              <a:latin typeface="Arial"/>
              <a:ea typeface="Arial"/>
              <a:cs typeface="Arial"/>
              <a:sym typeface="Arial"/>
            </a:endParaRPr>
          </a:p>
          <a:p>
            <a:pPr marL="627062" marR="0" lvl="1" indent="-169862" algn="l" rtl="0">
              <a:lnSpc>
                <a:spcPct val="100000"/>
              </a:lnSpc>
              <a:spcBef>
                <a:spcPts val="700"/>
              </a:spcBef>
              <a:spcAft>
                <a:spcPts val="0"/>
              </a:spcAft>
              <a:buClr>
                <a:schemeClr val="dk1"/>
              </a:buClr>
              <a:buSzPts val="1400"/>
              <a:buFont typeface="Poppins"/>
              <a:buChar char="•"/>
            </a:pPr>
            <a:r>
              <a:rPr lang="en-US" sz="1400" b="0" i="0" u="none" strike="noStrike" cap="none">
                <a:solidFill>
                  <a:schemeClr val="dk1"/>
                </a:solidFill>
                <a:latin typeface="Poppins"/>
                <a:ea typeface="Poppins"/>
                <a:cs typeface="Poppins"/>
                <a:sym typeface="Poppins"/>
              </a:rPr>
              <a:t>Low maintenance cost</a:t>
            </a:r>
            <a:endParaRPr sz="1400" b="0" i="0" u="none" strike="noStrike" cap="none">
              <a:solidFill>
                <a:srgbClr val="000000"/>
              </a:solidFill>
              <a:latin typeface="Arial"/>
              <a:ea typeface="Arial"/>
              <a:cs typeface="Arial"/>
              <a:sym typeface="Arial"/>
            </a:endParaRPr>
          </a:p>
          <a:p>
            <a:pPr marL="627062" marR="0" lvl="1" indent="-169862" algn="l" rtl="0">
              <a:lnSpc>
                <a:spcPct val="100000"/>
              </a:lnSpc>
              <a:spcBef>
                <a:spcPts val="700"/>
              </a:spcBef>
              <a:spcAft>
                <a:spcPts val="0"/>
              </a:spcAft>
              <a:buClr>
                <a:schemeClr val="dk1"/>
              </a:buClr>
              <a:buSzPts val="1400"/>
              <a:buFont typeface="Poppins"/>
              <a:buChar char="•"/>
            </a:pPr>
            <a:r>
              <a:rPr lang="en-US" sz="1400" b="0" i="0" u="none" strike="noStrike" cap="none">
                <a:solidFill>
                  <a:schemeClr val="dk1"/>
                </a:solidFill>
                <a:latin typeface="Poppins"/>
                <a:ea typeface="Poppins"/>
                <a:cs typeface="Poppins"/>
                <a:sym typeface="Poppins"/>
              </a:rPr>
              <a:t>Quiet operation</a:t>
            </a:r>
            <a:endParaRPr sz="1400" b="0" i="0" u="none" strike="noStrike" cap="none">
              <a:solidFill>
                <a:srgbClr val="000000"/>
              </a:solidFill>
              <a:latin typeface="Arial"/>
              <a:ea typeface="Arial"/>
              <a:cs typeface="Arial"/>
              <a:sym typeface="Arial"/>
            </a:endParaRPr>
          </a:p>
          <a:p>
            <a:pPr marL="627062" marR="0" lvl="1" indent="-169862" algn="l" rtl="0">
              <a:lnSpc>
                <a:spcPct val="100000"/>
              </a:lnSpc>
              <a:spcBef>
                <a:spcPts val="700"/>
              </a:spcBef>
              <a:spcAft>
                <a:spcPts val="0"/>
              </a:spcAft>
              <a:buClr>
                <a:schemeClr val="dk1"/>
              </a:buClr>
              <a:buSzPts val="1400"/>
              <a:buFont typeface="Poppins"/>
              <a:buChar char="•"/>
            </a:pPr>
            <a:r>
              <a:rPr lang="en-US" sz="1400" b="0" i="0" u="none" strike="noStrike" cap="none">
                <a:solidFill>
                  <a:schemeClr val="dk1"/>
                </a:solidFill>
                <a:latin typeface="Poppins"/>
                <a:ea typeface="Poppins"/>
                <a:cs typeface="Poppins"/>
                <a:sym typeface="Poppins"/>
              </a:rPr>
              <a:t>High initial tension not necessary</a:t>
            </a:r>
            <a:endParaRPr sz="1400" b="0" i="0" u="none" strike="noStrike" cap="none">
              <a:solidFill>
                <a:srgbClr val="000000"/>
              </a:solidFill>
              <a:latin typeface="Arial"/>
              <a:ea typeface="Arial"/>
              <a:cs typeface="Arial"/>
              <a:sym typeface="Arial"/>
            </a:endParaRPr>
          </a:p>
          <a:p>
            <a:pPr marL="627062" marR="0" lvl="1" indent="-169862" algn="l" rtl="0">
              <a:lnSpc>
                <a:spcPct val="100000"/>
              </a:lnSpc>
              <a:spcBef>
                <a:spcPts val="700"/>
              </a:spcBef>
              <a:spcAft>
                <a:spcPts val="0"/>
              </a:spcAft>
              <a:buClr>
                <a:schemeClr val="dk1"/>
              </a:buClr>
              <a:buSzPts val="1400"/>
              <a:buFont typeface="Poppins"/>
              <a:buChar char="•"/>
            </a:pPr>
            <a:r>
              <a:rPr lang="en-US" sz="1400" b="0" i="0" u="none" strike="noStrike" cap="none">
                <a:solidFill>
                  <a:schemeClr val="dk1"/>
                </a:solidFill>
                <a:latin typeface="Poppins"/>
                <a:ea typeface="Poppins"/>
                <a:cs typeface="Poppins"/>
                <a:sym typeface="Poppins"/>
              </a:rPr>
              <a:t>Large capacity in small space</a:t>
            </a:r>
            <a:endParaRPr sz="1400" b="0" i="0" u="none" strike="noStrike" cap="none">
              <a:solidFill>
                <a:srgbClr val="000000"/>
              </a:solidFill>
              <a:latin typeface="Arial"/>
              <a:ea typeface="Arial"/>
              <a:cs typeface="Arial"/>
              <a:sym typeface="Arial"/>
            </a:endParaRPr>
          </a:p>
          <a:p>
            <a:pPr marL="627062" marR="0" lvl="1" indent="-169862" algn="l" rtl="0">
              <a:lnSpc>
                <a:spcPct val="100000"/>
              </a:lnSpc>
              <a:spcBef>
                <a:spcPts val="700"/>
              </a:spcBef>
              <a:spcAft>
                <a:spcPts val="0"/>
              </a:spcAft>
              <a:buClr>
                <a:schemeClr val="dk1"/>
              </a:buClr>
              <a:buSzPts val="1400"/>
              <a:buFont typeface="Poppins"/>
              <a:buChar char="•"/>
            </a:pPr>
            <a:r>
              <a:rPr lang="en-US" sz="1400" b="0" i="0" u="none" strike="noStrike" cap="none">
                <a:solidFill>
                  <a:schemeClr val="dk1"/>
                </a:solidFill>
                <a:latin typeface="Poppins"/>
                <a:ea typeface="Poppins"/>
                <a:cs typeface="Poppins"/>
                <a:sym typeface="Poppins"/>
              </a:rPr>
              <a:t>Can tolerate low arc of contact (minimum of 6 teeth in contact for rated power)</a:t>
            </a:r>
            <a:endParaRPr sz="1400" b="0" i="0" u="none" strike="noStrike" cap="none">
              <a:solidFill>
                <a:srgbClr val="000000"/>
              </a:solidFill>
              <a:latin typeface="Arial"/>
              <a:ea typeface="Arial"/>
              <a:cs typeface="Arial"/>
              <a:sym typeface="Arial"/>
            </a:endParaRPr>
          </a:p>
          <a:p>
            <a:pPr marL="627062" marR="0" lvl="1" indent="-169862" algn="l" rtl="0">
              <a:lnSpc>
                <a:spcPct val="100000"/>
              </a:lnSpc>
              <a:spcBef>
                <a:spcPts val="700"/>
              </a:spcBef>
              <a:spcAft>
                <a:spcPts val="0"/>
              </a:spcAft>
              <a:buClr>
                <a:schemeClr val="dk1"/>
              </a:buClr>
              <a:buSzPts val="1400"/>
              <a:buFont typeface="Poppins"/>
              <a:buChar char="•"/>
            </a:pPr>
            <a:r>
              <a:rPr lang="en-US" sz="1400" b="0" i="0" u="none" strike="noStrike" cap="none">
                <a:solidFill>
                  <a:schemeClr val="dk1"/>
                </a:solidFill>
                <a:latin typeface="Poppins"/>
                <a:ea typeface="Poppins"/>
                <a:cs typeface="Poppins"/>
                <a:sym typeface="Poppins"/>
              </a:rPr>
              <a:t>Minimal backlash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78" name="Google Shape;178;p12"/>
          <p:cNvSpPr txBox="1"/>
          <p:nvPr/>
        </p:nvSpPr>
        <p:spPr>
          <a:xfrm>
            <a:off x="0" y="1143000"/>
            <a:ext cx="1905000" cy="30480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79" name="Google Shape;179;p12"/>
          <p:cNvSpPr txBox="1"/>
          <p:nvPr/>
        </p:nvSpPr>
        <p:spPr>
          <a:xfrm>
            <a:off x="0" y="11430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  ADVANTAGES</a:t>
            </a:r>
            <a:endParaRPr sz="1400" b="0" i="0" u="none" strike="noStrike" cap="none">
              <a:solidFill>
                <a:srgbClr val="000000"/>
              </a:solidFill>
              <a:latin typeface="Arial"/>
              <a:ea typeface="Arial"/>
              <a:cs typeface="Arial"/>
              <a:sym typeface="Arial"/>
            </a:endParaRPr>
          </a:p>
        </p:txBody>
      </p:sp>
      <p:pic>
        <p:nvPicPr>
          <p:cNvPr id="180" name="Google Shape;180;p12" descr="belt"/>
          <p:cNvPicPr preferRelativeResize="0"/>
          <p:nvPr/>
        </p:nvPicPr>
        <p:blipFill rotWithShape="1">
          <a:blip r:embed="rId3">
            <a:alphaModFix/>
          </a:blip>
          <a:srcRect/>
          <a:stretch/>
        </p:blipFill>
        <p:spPr>
          <a:xfrm>
            <a:off x="2254250" y="4368800"/>
            <a:ext cx="2971800" cy="1828800"/>
          </a:xfrm>
          <a:prstGeom prst="rect">
            <a:avLst/>
          </a:prstGeom>
          <a:noFill/>
          <a:ln>
            <a:noFill/>
          </a:ln>
        </p:spPr>
      </p:pic>
      <p:pic>
        <p:nvPicPr>
          <p:cNvPr id="181" name="Google Shape;181;p12"/>
          <p:cNvPicPr preferRelativeResize="0"/>
          <p:nvPr/>
        </p:nvPicPr>
        <p:blipFill rotWithShape="1">
          <a:blip r:embed="rId4">
            <a:alphaModFix/>
          </a:blip>
          <a:srcRect/>
          <a:stretch/>
        </p:blipFill>
        <p:spPr>
          <a:xfrm>
            <a:off x="5867400" y="4038600"/>
            <a:ext cx="2743200" cy="2133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anim calcmode="lin" valueType="num">
                                      <p:cBhvr additive="base">
                                        <p:cTn id="7" dur="500"/>
                                        <p:tgtEl>
                                          <p:spTgt spid="1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3"/>
          <p:cNvSpPr txBox="1"/>
          <p:nvPr/>
        </p:nvSpPr>
        <p:spPr>
          <a:xfrm>
            <a:off x="0" y="1219200"/>
            <a:ext cx="1676400" cy="501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a:t>
            </a:r>
            <a:r>
              <a:rPr lang="en-US" sz="1600" b="0" i="0" u="none" strike="noStrike" cap="none">
                <a:solidFill>
                  <a:schemeClr val="folHlink"/>
                </a:solidFill>
                <a:latin typeface="Arial"/>
                <a:ea typeface="Arial"/>
                <a:cs typeface="Arial"/>
                <a:sym typeface="Arial"/>
              </a:rPr>
              <a:t>Flat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V-Belt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Chain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   Timing Belt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    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87" name="Google Shape;187;p13"/>
          <p:cNvSpPr txBox="1"/>
          <p:nvPr/>
        </p:nvSpPr>
        <p:spPr>
          <a:xfrm>
            <a:off x="0" y="8382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188" name="Google Shape;188;p13"/>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189" name="Google Shape;189;p13"/>
          <p:cNvSpPr txBox="1"/>
          <p:nvPr/>
        </p:nvSpPr>
        <p:spPr>
          <a:xfrm>
            <a:off x="3124200" y="838200"/>
            <a:ext cx="2133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190" name="Google Shape;190;p13"/>
          <p:cNvSpPr txBox="1"/>
          <p:nvPr/>
        </p:nvSpPr>
        <p:spPr>
          <a:xfrm>
            <a:off x="3124200" y="1143000"/>
            <a:ext cx="1905000" cy="30480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91" name="Google Shape;191;p13"/>
          <p:cNvSpPr txBox="1"/>
          <p:nvPr/>
        </p:nvSpPr>
        <p:spPr>
          <a:xfrm>
            <a:off x="3124200" y="11430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  BELT WIDTH</a:t>
            </a:r>
            <a:endParaRPr sz="1400" b="0" i="0" u="none" strike="noStrike" cap="none">
              <a:solidFill>
                <a:srgbClr val="000000"/>
              </a:solidFill>
              <a:latin typeface="Arial"/>
              <a:ea typeface="Arial"/>
              <a:cs typeface="Arial"/>
              <a:sym typeface="Arial"/>
            </a:endParaRPr>
          </a:p>
        </p:txBody>
      </p:sp>
      <p:sp>
        <p:nvSpPr>
          <p:cNvPr id="192" name="Google Shape;192;p13"/>
          <p:cNvSpPr txBox="1"/>
          <p:nvPr/>
        </p:nvSpPr>
        <p:spPr>
          <a:xfrm>
            <a:off x="1676400" y="1219200"/>
            <a:ext cx="7467600" cy="1069975"/>
          </a:xfrm>
          <a:prstGeom prst="rect">
            <a:avLst/>
          </a:prstGeom>
          <a:noFill/>
          <a:ln>
            <a:noFill/>
          </a:ln>
        </p:spPr>
        <p:txBody>
          <a:bodyPr spcFirstLastPara="1" wrap="square" lIns="91425" tIns="45700" rIns="91425" bIns="45700" anchor="t" anchorCtr="0">
            <a:spAutoFit/>
          </a:bodyPr>
          <a:lstStyle/>
          <a:p>
            <a:pPr marL="627062" marR="0" lvl="1" indent="-68262"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Poppins"/>
              <a:ea typeface="Poppins"/>
              <a:cs typeface="Poppins"/>
              <a:sym typeface="Poppins"/>
            </a:endParaRPr>
          </a:p>
          <a:p>
            <a:pPr marL="627062" marR="0" lvl="1" indent="-169862" algn="l" rtl="0">
              <a:lnSpc>
                <a:spcPct val="100000"/>
              </a:lnSpc>
              <a:spcBef>
                <a:spcPts val="800"/>
              </a:spcBef>
              <a:spcAft>
                <a:spcPts val="0"/>
              </a:spcAft>
              <a:buClr>
                <a:schemeClr val="dk1"/>
              </a:buClr>
              <a:buSzPts val="1600"/>
              <a:buFont typeface="Poppins"/>
              <a:buChar char="•"/>
            </a:pPr>
            <a:r>
              <a:rPr lang="en-US" sz="1600" b="0" i="0" u="none" strike="noStrike" cap="none">
                <a:solidFill>
                  <a:schemeClr val="dk1"/>
                </a:solidFill>
                <a:latin typeface="Poppins"/>
                <a:ea typeface="Poppins"/>
                <a:cs typeface="Poppins"/>
                <a:sym typeface="Poppins"/>
              </a:rPr>
              <a:t>Belts are selected according to the width of the belt</a:t>
            </a:r>
            <a:endParaRPr sz="1400" b="0" i="0" u="none" strike="noStrike" cap="none">
              <a:solidFill>
                <a:srgbClr val="000000"/>
              </a:solidFill>
              <a:latin typeface="Arial"/>
              <a:ea typeface="Arial"/>
              <a:cs typeface="Arial"/>
              <a:sym typeface="Arial"/>
            </a:endParaRPr>
          </a:p>
          <a:p>
            <a:pPr marL="627062" marR="0" lvl="1" indent="-169862" algn="l" rtl="0">
              <a:lnSpc>
                <a:spcPct val="100000"/>
              </a:lnSpc>
              <a:spcBef>
                <a:spcPts val="800"/>
              </a:spcBef>
              <a:spcAft>
                <a:spcPts val="0"/>
              </a:spcAft>
              <a:buClr>
                <a:schemeClr val="dk1"/>
              </a:buClr>
              <a:buSzPts val="1600"/>
              <a:buFont typeface="Poppins"/>
              <a:buChar char="•"/>
            </a:pPr>
            <a:r>
              <a:rPr lang="en-US" sz="1600" b="0" i="0" u="none" strike="noStrike" cap="none">
                <a:solidFill>
                  <a:schemeClr val="dk1"/>
                </a:solidFill>
                <a:latin typeface="Poppins"/>
                <a:ea typeface="Poppins"/>
                <a:cs typeface="Poppins"/>
                <a:sym typeface="Poppins"/>
              </a:rPr>
              <a:t>Belts must be selected from the variable standard belt widths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4"/>
          <p:cNvSpPr txBox="1"/>
          <p:nvPr/>
        </p:nvSpPr>
        <p:spPr>
          <a:xfrm>
            <a:off x="0" y="1219200"/>
            <a:ext cx="1676400" cy="3025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99" name="Google Shape;199;p14"/>
          <p:cNvSpPr txBox="1"/>
          <p:nvPr/>
        </p:nvSpPr>
        <p:spPr>
          <a:xfrm>
            <a:off x="0" y="8382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200" name="Google Shape;200;p14"/>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201" name="Google Shape;201;p14"/>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202" name="Google Shape;202;p14"/>
          <p:cNvSpPr txBox="1"/>
          <p:nvPr/>
        </p:nvSpPr>
        <p:spPr>
          <a:xfrm>
            <a:off x="1676400" y="1219200"/>
            <a:ext cx="7467600" cy="2370137"/>
          </a:xfrm>
          <a:prstGeom prst="rect">
            <a:avLst/>
          </a:prstGeom>
          <a:noFill/>
          <a:ln>
            <a:noFill/>
          </a:ln>
        </p:spPr>
        <p:txBody>
          <a:bodyPr spcFirstLastPara="1" wrap="square" lIns="91425" tIns="45700" rIns="91425" bIns="45700" anchor="t" anchorCtr="0">
            <a:spAutoFit/>
          </a:bodyPr>
          <a:lstStyle/>
          <a:p>
            <a:pPr marL="801687" marR="0" lvl="1" indent="-123824" algn="l" rtl="0">
              <a:lnSpc>
                <a:spcPct val="100000"/>
              </a:lnSpc>
              <a:spcBef>
                <a:spcPts val="0"/>
              </a:spcBef>
              <a:spcAft>
                <a:spcPts val="0"/>
              </a:spcAft>
              <a:buClr>
                <a:schemeClr val="dk1"/>
              </a:buClr>
              <a:buSzPts val="1600"/>
              <a:buFont typeface="Times New Roman"/>
              <a:buNone/>
            </a:pPr>
            <a:endParaRPr sz="1600" b="1" i="0" u="none" strike="noStrike" cap="none">
              <a:solidFill>
                <a:schemeClr val="dk1"/>
              </a:solidFill>
              <a:latin typeface="Poppins"/>
              <a:ea typeface="Poppins"/>
              <a:cs typeface="Poppins"/>
              <a:sym typeface="Poppins"/>
            </a:endParaRPr>
          </a:p>
          <a:p>
            <a:pPr marL="801687" marR="0" lvl="1" indent="-225424" algn="l" rtl="0">
              <a:lnSpc>
                <a:spcPct val="100000"/>
              </a:lnSpc>
              <a:spcBef>
                <a:spcPts val="1200"/>
              </a:spcBef>
              <a:spcAft>
                <a:spcPts val="0"/>
              </a:spcAft>
              <a:buClr>
                <a:schemeClr val="dk1"/>
              </a:buClr>
              <a:buSzPts val="2400"/>
              <a:buFont typeface="Poppins"/>
              <a:buChar char="•"/>
            </a:pPr>
            <a:r>
              <a:rPr lang="en-US" sz="2400" b="0" i="0" u="none" strike="noStrike" cap="none">
                <a:solidFill>
                  <a:schemeClr val="dk1"/>
                </a:solidFill>
                <a:latin typeface="Poppins"/>
                <a:ea typeface="Poppins"/>
                <a:cs typeface="Poppins"/>
                <a:sym typeface="Poppins"/>
              </a:rPr>
              <a:t>A </a:t>
            </a:r>
            <a:r>
              <a:rPr lang="en-US" sz="2400" b="1" i="0" u="none" strike="noStrike" cap="none">
                <a:solidFill>
                  <a:schemeClr val="dk1"/>
                </a:solidFill>
                <a:latin typeface="Poppins"/>
                <a:ea typeface="Poppins"/>
                <a:cs typeface="Poppins"/>
                <a:sym typeface="Poppins"/>
              </a:rPr>
              <a:t>threaded fastener</a:t>
            </a:r>
            <a:r>
              <a:rPr lang="en-US" sz="2400" b="0" i="0" u="none" strike="noStrike" cap="none">
                <a:solidFill>
                  <a:schemeClr val="dk1"/>
                </a:solidFill>
                <a:latin typeface="Poppins"/>
                <a:ea typeface="Poppins"/>
                <a:cs typeface="Poppins"/>
                <a:sym typeface="Poppins"/>
              </a:rPr>
              <a:t> is a discrete piece of hardware that has internal or external screw threads. It falls into the overall fastener family. They are usually used for the assembly of multiple parts and facilitate disassembly. </a:t>
            </a:r>
            <a:endParaRPr sz="1400" b="0" i="0" u="none" strike="noStrike" cap="none">
              <a:solidFill>
                <a:srgbClr val="000000"/>
              </a:solidFill>
              <a:latin typeface="Arial"/>
              <a:ea typeface="Arial"/>
              <a:cs typeface="Arial"/>
              <a:sym typeface="Arial"/>
            </a:endParaRPr>
          </a:p>
        </p:txBody>
      </p:sp>
      <p:pic>
        <p:nvPicPr>
          <p:cNvPr id="203" name="Google Shape;203;p14"/>
          <p:cNvPicPr preferRelativeResize="0"/>
          <p:nvPr/>
        </p:nvPicPr>
        <p:blipFill rotWithShape="1">
          <a:blip r:embed="rId3">
            <a:alphaModFix/>
          </a:blip>
          <a:srcRect/>
          <a:stretch/>
        </p:blipFill>
        <p:spPr>
          <a:xfrm>
            <a:off x="2520950" y="3810000"/>
            <a:ext cx="5708650" cy="22780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3"/>
                                        </p:tgtEl>
                                        <p:attrNameLst>
                                          <p:attrName>style.visibility</p:attrName>
                                        </p:attrNameLst>
                                      </p:cBhvr>
                                      <p:to>
                                        <p:strVal val="visible"/>
                                      </p:to>
                                    </p:set>
                                    <p:anim calcmode="lin" valueType="num">
                                      <p:cBhvr additive="base">
                                        <p:cTn id="7" dur="500"/>
                                        <p:tgtEl>
                                          <p:spTgt spid="2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5"/>
          <p:cNvSpPr txBox="1"/>
          <p:nvPr/>
        </p:nvSpPr>
        <p:spPr>
          <a:xfrm>
            <a:off x="0" y="1219200"/>
            <a:ext cx="1676400" cy="35401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209" name="Google Shape;209;p15"/>
          <p:cNvSpPr txBox="1"/>
          <p:nvPr/>
        </p:nvSpPr>
        <p:spPr>
          <a:xfrm>
            <a:off x="0" y="8382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210" name="Google Shape;210;p15"/>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211" name="Google Shape;211;p15"/>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212" name="Google Shape;212;p15"/>
          <p:cNvSpPr txBox="1"/>
          <p:nvPr/>
        </p:nvSpPr>
        <p:spPr>
          <a:xfrm>
            <a:off x="1676400" y="1219200"/>
            <a:ext cx="7467600" cy="1631950"/>
          </a:xfrm>
          <a:prstGeom prst="rect">
            <a:avLst/>
          </a:prstGeom>
          <a:noFill/>
          <a:ln>
            <a:noFill/>
          </a:ln>
        </p:spPr>
        <p:txBody>
          <a:bodyPr spcFirstLastPara="1" wrap="square" lIns="91425" tIns="45700" rIns="91425" bIns="45700" anchor="t" anchorCtr="0">
            <a:spAutoFit/>
          </a:bodyPr>
          <a:lstStyle/>
          <a:p>
            <a:pPr marL="801687" marR="0" lvl="1" indent="-123824" algn="l" rtl="0">
              <a:lnSpc>
                <a:spcPct val="100000"/>
              </a:lnSpc>
              <a:spcBef>
                <a:spcPts val="0"/>
              </a:spcBef>
              <a:spcAft>
                <a:spcPts val="0"/>
              </a:spcAft>
              <a:buClr>
                <a:schemeClr val="dk1"/>
              </a:buClr>
              <a:buSzPts val="1600"/>
              <a:buFont typeface="Times New Roman"/>
              <a:buNone/>
            </a:pPr>
            <a:endParaRPr sz="1600" b="1" i="0" u="none" strike="noStrike" cap="none">
              <a:solidFill>
                <a:schemeClr val="dk1"/>
              </a:solidFill>
              <a:latin typeface="Poppins"/>
              <a:ea typeface="Poppins"/>
              <a:cs typeface="Poppins"/>
              <a:sym typeface="Poppins"/>
            </a:endParaRPr>
          </a:p>
          <a:p>
            <a:pPr marL="801687" marR="0" lvl="1" indent="-225424" algn="l" rtl="0">
              <a:lnSpc>
                <a:spcPct val="100000"/>
              </a:lnSpc>
              <a:spcBef>
                <a:spcPts val="1200"/>
              </a:spcBef>
              <a:spcAft>
                <a:spcPts val="0"/>
              </a:spcAft>
              <a:buClr>
                <a:schemeClr val="dk1"/>
              </a:buClr>
              <a:buSzPts val="2400"/>
              <a:buFont typeface="Poppins"/>
              <a:buNone/>
            </a:pPr>
            <a:r>
              <a:rPr lang="en-US" sz="2400" b="0" i="0" u="none" strike="noStrike" cap="none">
                <a:solidFill>
                  <a:schemeClr val="dk1"/>
                </a:solidFill>
                <a:latin typeface="Poppins"/>
                <a:ea typeface="Poppins"/>
                <a:cs typeface="Poppins"/>
                <a:sym typeface="Poppins"/>
              </a:rPr>
              <a:t>A </a:t>
            </a:r>
            <a:r>
              <a:rPr lang="en-US" sz="2400" b="1" i="0" u="none" strike="noStrike" cap="none">
                <a:solidFill>
                  <a:schemeClr val="dk1"/>
                </a:solidFill>
                <a:latin typeface="Poppins"/>
                <a:ea typeface="Poppins"/>
                <a:cs typeface="Poppins"/>
                <a:sym typeface="Poppins"/>
              </a:rPr>
              <a:t>bearing</a:t>
            </a:r>
            <a:r>
              <a:rPr lang="en-US" sz="2400" b="0" i="0" u="none" strike="noStrike" cap="none">
                <a:solidFill>
                  <a:schemeClr val="dk1"/>
                </a:solidFill>
                <a:latin typeface="Poppins"/>
                <a:ea typeface="Poppins"/>
                <a:cs typeface="Poppins"/>
                <a:sym typeface="Poppins"/>
              </a:rPr>
              <a:t> is a machine element that constrains relative motion to only the desired motion, and reduces friction between moving parts.</a:t>
            </a:r>
            <a:endParaRPr sz="1400" b="0" i="0" u="none" strike="noStrike" cap="none">
              <a:solidFill>
                <a:srgbClr val="000000"/>
              </a:solidFill>
              <a:latin typeface="Arial"/>
              <a:ea typeface="Arial"/>
              <a:cs typeface="Arial"/>
              <a:sym typeface="Arial"/>
            </a:endParaRPr>
          </a:p>
        </p:txBody>
      </p:sp>
      <p:pic>
        <p:nvPicPr>
          <p:cNvPr id="213" name="Google Shape;213;p15"/>
          <p:cNvPicPr preferRelativeResize="0"/>
          <p:nvPr/>
        </p:nvPicPr>
        <p:blipFill rotWithShape="1">
          <a:blip r:embed="rId3">
            <a:alphaModFix/>
          </a:blip>
          <a:srcRect/>
          <a:stretch/>
        </p:blipFill>
        <p:spPr>
          <a:xfrm>
            <a:off x="2336800" y="3200400"/>
            <a:ext cx="1374775" cy="1905000"/>
          </a:xfrm>
          <a:prstGeom prst="rect">
            <a:avLst/>
          </a:prstGeom>
          <a:noFill/>
          <a:ln>
            <a:noFill/>
          </a:ln>
        </p:spPr>
      </p:pic>
      <p:pic>
        <p:nvPicPr>
          <p:cNvPr id="214" name="Google Shape;214;p15"/>
          <p:cNvPicPr preferRelativeResize="0"/>
          <p:nvPr/>
        </p:nvPicPr>
        <p:blipFill rotWithShape="1">
          <a:blip r:embed="rId4">
            <a:alphaModFix/>
          </a:blip>
          <a:srcRect/>
          <a:stretch/>
        </p:blipFill>
        <p:spPr>
          <a:xfrm>
            <a:off x="161500" y="4941937"/>
            <a:ext cx="3657600" cy="1801812"/>
          </a:xfrm>
          <a:prstGeom prst="rect">
            <a:avLst/>
          </a:prstGeom>
          <a:noFill/>
          <a:ln>
            <a:noFill/>
          </a:ln>
        </p:spPr>
      </p:pic>
      <p:pic>
        <p:nvPicPr>
          <p:cNvPr id="215" name="Google Shape;215;p15"/>
          <p:cNvPicPr preferRelativeResize="0"/>
          <p:nvPr/>
        </p:nvPicPr>
        <p:blipFill rotWithShape="1">
          <a:blip r:embed="rId5">
            <a:alphaModFix/>
          </a:blip>
          <a:srcRect/>
          <a:stretch/>
        </p:blipFill>
        <p:spPr>
          <a:xfrm>
            <a:off x="4419600" y="4649787"/>
            <a:ext cx="4114800" cy="19605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500"/>
                                        <p:tgtEl>
                                          <p:spTgt spid="2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
                                        </p:tgtEl>
                                        <p:attrNameLst>
                                          <p:attrName>style.visibility</p:attrName>
                                        </p:attrNameLst>
                                      </p:cBhvr>
                                      <p:to>
                                        <p:strVal val="visible"/>
                                      </p:to>
                                    </p:set>
                                    <p:animEffect transition="in" filter="fade">
                                      <p:cBhvr>
                                        <p:cTn id="12"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6"/>
          <p:cNvSpPr txBox="1"/>
          <p:nvPr/>
        </p:nvSpPr>
        <p:spPr>
          <a:xfrm>
            <a:off x="0" y="1219200"/>
            <a:ext cx="1676400" cy="3025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221" name="Google Shape;221;p16"/>
          <p:cNvSpPr txBox="1"/>
          <p:nvPr/>
        </p:nvSpPr>
        <p:spPr>
          <a:xfrm>
            <a:off x="0" y="8382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222" name="Google Shape;222;p16"/>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223" name="Google Shape;223;p16"/>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pic>
        <p:nvPicPr>
          <p:cNvPr id="224" name="Google Shape;224;p16"/>
          <p:cNvPicPr preferRelativeResize="0"/>
          <p:nvPr/>
        </p:nvPicPr>
        <p:blipFill rotWithShape="1">
          <a:blip r:embed="rId3">
            <a:alphaModFix/>
          </a:blip>
          <a:srcRect/>
          <a:stretch/>
        </p:blipFill>
        <p:spPr>
          <a:xfrm>
            <a:off x="3276600" y="2057400"/>
            <a:ext cx="3163887" cy="1906587"/>
          </a:xfrm>
          <a:prstGeom prst="rect">
            <a:avLst/>
          </a:prstGeom>
          <a:noFill/>
          <a:ln>
            <a:noFill/>
          </a:ln>
        </p:spPr>
      </p:pic>
      <p:pic>
        <p:nvPicPr>
          <p:cNvPr id="225" name="Google Shape;225;p16"/>
          <p:cNvPicPr preferRelativeResize="0"/>
          <p:nvPr/>
        </p:nvPicPr>
        <p:blipFill rotWithShape="1">
          <a:blip r:embed="rId4">
            <a:alphaModFix/>
          </a:blip>
          <a:srcRect/>
          <a:stretch/>
        </p:blipFill>
        <p:spPr>
          <a:xfrm>
            <a:off x="3505200" y="4953000"/>
            <a:ext cx="3049587" cy="1373187"/>
          </a:xfrm>
          <a:prstGeom prst="rect">
            <a:avLst/>
          </a:prstGeom>
          <a:noFill/>
          <a:ln>
            <a:noFill/>
          </a:ln>
        </p:spPr>
      </p:pic>
      <p:sp>
        <p:nvSpPr>
          <p:cNvPr id="226" name="Google Shape;226;p16"/>
          <p:cNvSpPr txBox="1"/>
          <p:nvPr/>
        </p:nvSpPr>
        <p:spPr>
          <a:xfrm>
            <a:off x="1676400" y="1219200"/>
            <a:ext cx="7467600" cy="947737"/>
          </a:xfrm>
          <a:prstGeom prst="rect">
            <a:avLst/>
          </a:prstGeom>
          <a:noFill/>
          <a:ln>
            <a:noFill/>
          </a:ln>
        </p:spPr>
        <p:txBody>
          <a:bodyPr spcFirstLastPara="1" wrap="square" lIns="91425" tIns="45700" rIns="91425" bIns="45700" anchor="t" anchorCtr="0">
            <a:spAutoFit/>
          </a:bodyPr>
          <a:lstStyle/>
          <a:p>
            <a:pPr marL="801687" marR="0" lvl="1" indent="-123824" algn="l" rtl="0">
              <a:lnSpc>
                <a:spcPct val="100000"/>
              </a:lnSpc>
              <a:spcBef>
                <a:spcPts val="0"/>
              </a:spcBef>
              <a:spcAft>
                <a:spcPts val="0"/>
              </a:spcAft>
              <a:buClr>
                <a:schemeClr val="dk1"/>
              </a:buClr>
              <a:buSzPts val="1600"/>
              <a:buFont typeface="Times New Roman"/>
              <a:buNone/>
            </a:pPr>
            <a:endParaRPr sz="1600" b="1" i="0" u="none" strike="noStrike" cap="none">
              <a:solidFill>
                <a:schemeClr val="dk1"/>
              </a:solidFill>
              <a:latin typeface="Poppins"/>
              <a:ea typeface="Poppins"/>
              <a:cs typeface="Poppins"/>
              <a:sym typeface="Poppins"/>
            </a:endParaRPr>
          </a:p>
          <a:p>
            <a:pPr marL="801687" marR="0" lvl="1" indent="-225424" algn="l" rtl="0">
              <a:lnSpc>
                <a:spcPct val="100000"/>
              </a:lnSpc>
              <a:spcBef>
                <a:spcPts val="80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LM Rail:</a:t>
            </a:r>
            <a:r>
              <a:rPr lang="en-US" sz="1600" b="0" i="0" u="none" strike="noStrike" cap="none">
                <a:solidFill>
                  <a:schemeClr val="dk1"/>
                </a:solidFill>
                <a:latin typeface="Poppins"/>
                <a:ea typeface="Poppins"/>
                <a:cs typeface="Poppins"/>
                <a:sym typeface="Poppins"/>
              </a:rPr>
              <a:t>  used as guides for sliding systems hence, also called as </a:t>
            </a:r>
            <a:r>
              <a:rPr lang="en-US" sz="1600" b="0" i="1" u="none" strike="noStrike" cap="none">
                <a:solidFill>
                  <a:schemeClr val="dk1"/>
                </a:solidFill>
                <a:latin typeface="Poppins"/>
                <a:ea typeface="Poppins"/>
                <a:cs typeface="Poppins"/>
                <a:sym typeface="Poppins"/>
              </a:rPr>
              <a:t>Slide Guides</a:t>
            </a:r>
            <a:endParaRPr sz="1400" b="0" i="0" u="none" strike="noStrike" cap="none">
              <a:solidFill>
                <a:srgbClr val="000000"/>
              </a:solidFill>
              <a:latin typeface="Arial"/>
              <a:ea typeface="Arial"/>
              <a:cs typeface="Arial"/>
              <a:sym typeface="Arial"/>
            </a:endParaRPr>
          </a:p>
        </p:txBody>
      </p:sp>
      <p:sp>
        <p:nvSpPr>
          <p:cNvPr id="227" name="Google Shape;227;p16"/>
          <p:cNvSpPr txBox="1"/>
          <p:nvPr/>
        </p:nvSpPr>
        <p:spPr>
          <a:xfrm>
            <a:off x="1676400" y="4267200"/>
            <a:ext cx="7467600" cy="581025"/>
          </a:xfrm>
          <a:prstGeom prst="rect">
            <a:avLst/>
          </a:prstGeom>
          <a:noFill/>
          <a:ln>
            <a:noFill/>
          </a:ln>
        </p:spPr>
        <p:txBody>
          <a:bodyPr spcFirstLastPara="1" wrap="square" lIns="91425" tIns="45700" rIns="91425" bIns="45700" anchor="t" anchorCtr="0">
            <a:spAutoFit/>
          </a:bodyPr>
          <a:lstStyle/>
          <a:p>
            <a:pPr marL="0" marR="0" lvl="0" indent="225425" algn="l" rtl="0">
              <a:lnSpc>
                <a:spcPct val="100000"/>
              </a:lnSpc>
              <a:spcBef>
                <a:spcPts val="0"/>
              </a:spcBef>
              <a:spcAft>
                <a:spcPts val="0"/>
              </a:spcAft>
              <a:buClr>
                <a:schemeClr val="dk1"/>
              </a:buClr>
              <a:buSzPts val="800"/>
              <a:buFont typeface="Times New Roman"/>
              <a:buNone/>
            </a:pPr>
            <a:endParaRPr sz="800" b="1" i="0" u="sng" strike="noStrike" cap="none">
              <a:solidFill>
                <a:schemeClr val="dk1"/>
              </a:solidFill>
              <a:latin typeface="Poppins"/>
              <a:ea typeface="Poppins"/>
              <a:cs typeface="Poppins"/>
              <a:sym typeface="Poppins"/>
            </a:endParaRPr>
          </a:p>
          <a:p>
            <a:pPr marL="801687" marR="0" lvl="1" indent="-225424" algn="l" rtl="0">
              <a:lnSpc>
                <a:spcPct val="100000"/>
              </a:lnSpc>
              <a:spcBef>
                <a:spcPts val="80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Ball Screw:  </a:t>
            </a:r>
            <a:r>
              <a:rPr lang="en-US" sz="1600" b="0" i="0" u="none" strike="noStrike" cap="none">
                <a:solidFill>
                  <a:schemeClr val="dk1"/>
                </a:solidFill>
                <a:latin typeface="Poppins"/>
                <a:ea typeface="Poppins"/>
                <a:cs typeface="Poppins"/>
                <a:sym typeface="Poppins"/>
              </a:rPr>
              <a:t>used to transfer rotational motion into linear motion</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500"/>
                                        <p:tgtEl>
                                          <p:spTgt spid="2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7"/>
                                        </p:tgtEl>
                                        <p:attrNameLst>
                                          <p:attrName>style.visibility</p:attrName>
                                        </p:attrNameLst>
                                      </p:cBhvr>
                                      <p:to>
                                        <p:strVal val="visible"/>
                                      </p:to>
                                    </p:set>
                                    <p:animEffect transition="in" filter="fade">
                                      <p:cBhvr>
                                        <p:cTn id="12"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7"/>
          <p:cNvSpPr txBox="1"/>
          <p:nvPr/>
        </p:nvSpPr>
        <p:spPr>
          <a:xfrm>
            <a:off x="0" y="1219200"/>
            <a:ext cx="1676400" cy="3025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233" name="Google Shape;233;p17"/>
          <p:cNvSpPr txBox="1"/>
          <p:nvPr/>
        </p:nvSpPr>
        <p:spPr>
          <a:xfrm>
            <a:off x="0" y="8382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234" name="Google Shape;234;p17"/>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235" name="Google Shape;235;p17"/>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pic>
        <p:nvPicPr>
          <p:cNvPr id="236" name="Google Shape;236;p17"/>
          <p:cNvPicPr preferRelativeResize="0"/>
          <p:nvPr/>
        </p:nvPicPr>
        <p:blipFill rotWithShape="1">
          <a:blip r:embed="rId3">
            <a:alphaModFix/>
          </a:blip>
          <a:srcRect/>
          <a:stretch/>
        </p:blipFill>
        <p:spPr>
          <a:xfrm>
            <a:off x="2895600" y="2603500"/>
            <a:ext cx="1676400" cy="1358900"/>
          </a:xfrm>
          <a:prstGeom prst="rect">
            <a:avLst/>
          </a:prstGeom>
          <a:noFill/>
          <a:ln>
            <a:noFill/>
          </a:ln>
        </p:spPr>
      </p:pic>
      <p:pic>
        <p:nvPicPr>
          <p:cNvPr id="237" name="Google Shape;237;p17"/>
          <p:cNvPicPr preferRelativeResize="0"/>
          <p:nvPr/>
        </p:nvPicPr>
        <p:blipFill rotWithShape="1">
          <a:blip r:embed="rId4">
            <a:alphaModFix/>
          </a:blip>
          <a:srcRect/>
          <a:stretch/>
        </p:blipFill>
        <p:spPr>
          <a:xfrm>
            <a:off x="2362200" y="5105400"/>
            <a:ext cx="1347787" cy="1049337"/>
          </a:xfrm>
          <a:prstGeom prst="rect">
            <a:avLst/>
          </a:prstGeom>
          <a:noFill/>
          <a:ln>
            <a:noFill/>
          </a:ln>
        </p:spPr>
      </p:pic>
      <p:pic>
        <p:nvPicPr>
          <p:cNvPr id="238" name="Google Shape;238;p17"/>
          <p:cNvPicPr preferRelativeResize="0"/>
          <p:nvPr/>
        </p:nvPicPr>
        <p:blipFill rotWithShape="1">
          <a:blip r:embed="rId5">
            <a:alphaModFix/>
          </a:blip>
          <a:srcRect/>
          <a:stretch/>
        </p:blipFill>
        <p:spPr>
          <a:xfrm>
            <a:off x="4572000" y="5113337"/>
            <a:ext cx="1030287" cy="1022350"/>
          </a:xfrm>
          <a:prstGeom prst="rect">
            <a:avLst/>
          </a:prstGeom>
          <a:noFill/>
          <a:ln>
            <a:noFill/>
          </a:ln>
        </p:spPr>
      </p:pic>
      <p:pic>
        <p:nvPicPr>
          <p:cNvPr id="239" name="Google Shape;239;p17"/>
          <p:cNvPicPr preferRelativeResize="0"/>
          <p:nvPr/>
        </p:nvPicPr>
        <p:blipFill rotWithShape="1">
          <a:blip r:embed="rId6">
            <a:alphaModFix/>
          </a:blip>
          <a:srcRect/>
          <a:stretch/>
        </p:blipFill>
        <p:spPr>
          <a:xfrm>
            <a:off x="6705600" y="5113337"/>
            <a:ext cx="1182687" cy="1065212"/>
          </a:xfrm>
          <a:prstGeom prst="rect">
            <a:avLst/>
          </a:prstGeom>
          <a:noFill/>
          <a:ln>
            <a:noFill/>
          </a:ln>
        </p:spPr>
      </p:pic>
      <p:sp>
        <p:nvSpPr>
          <p:cNvPr id="240" name="Google Shape;240;p17"/>
          <p:cNvSpPr txBox="1"/>
          <p:nvPr/>
        </p:nvSpPr>
        <p:spPr>
          <a:xfrm>
            <a:off x="1676400" y="1219200"/>
            <a:ext cx="7467600" cy="1192212"/>
          </a:xfrm>
          <a:prstGeom prst="rect">
            <a:avLst/>
          </a:prstGeom>
          <a:noFill/>
          <a:ln>
            <a:noFill/>
          </a:ln>
        </p:spPr>
        <p:txBody>
          <a:bodyPr spcFirstLastPara="1" wrap="square" lIns="91425" tIns="45700" rIns="91425" bIns="45700" anchor="t" anchorCtr="0">
            <a:spAutoFit/>
          </a:bodyPr>
          <a:lstStyle/>
          <a:p>
            <a:pPr marL="801687" marR="0" lvl="1" indent="-123824" algn="l" rtl="0">
              <a:lnSpc>
                <a:spcPct val="100000"/>
              </a:lnSpc>
              <a:spcBef>
                <a:spcPts val="0"/>
              </a:spcBef>
              <a:spcAft>
                <a:spcPts val="0"/>
              </a:spcAft>
              <a:buClr>
                <a:schemeClr val="dk1"/>
              </a:buClr>
              <a:buSzPts val="1600"/>
              <a:buFont typeface="Times New Roman"/>
              <a:buNone/>
            </a:pPr>
            <a:endParaRPr sz="1600" b="1" i="0" u="none" strike="noStrike" cap="none">
              <a:solidFill>
                <a:schemeClr val="dk1"/>
              </a:solidFill>
              <a:latin typeface="Poppins"/>
              <a:ea typeface="Poppins"/>
              <a:cs typeface="Poppins"/>
              <a:sym typeface="Poppins"/>
            </a:endParaRPr>
          </a:p>
          <a:p>
            <a:pPr marL="801687" marR="0" lvl="1" indent="-225424" algn="l" rtl="0">
              <a:lnSpc>
                <a:spcPct val="100000"/>
              </a:lnSpc>
              <a:spcBef>
                <a:spcPts val="80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Bushing:  </a:t>
            </a:r>
            <a:r>
              <a:rPr lang="en-US" sz="1600" b="0" i="0" u="none" strike="noStrike" cap="none">
                <a:solidFill>
                  <a:schemeClr val="dk1"/>
                </a:solidFill>
                <a:latin typeface="Poppins"/>
                <a:ea typeface="Poppins"/>
                <a:cs typeface="Poppins"/>
                <a:sym typeface="Poppins"/>
              </a:rPr>
              <a:t>acts similarly to bearings;  2 types available:  </a:t>
            </a:r>
            <a:r>
              <a:rPr lang="en-US" sz="1600" b="0" i="1" u="none" strike="noStrike" cap="none">
                <a:solidFill>
                  <a:schemeClr val="dk1"/>
                </a:solidFill>
                <a:latin typeface="Poppins"/>
                <a:ea typeface="Poppins"/>
                <a:cs typeface="Poppins"/>
                <a:sym typeface="Poppins"/>
              </a:rPr>
              <a:t>ball bushing</a:t>
            </a:r>
            <a:r>
              <a:rPr lang="en-US" sz="1600" b="0" i="0" u="none" strike="noStrike" cap="none">
                <a:solidFill>
                  <a:schemeClr val="dk1"/>
                </a:solidFill>
                <a:latin typeface="Poppins"/>
                <a:ea typeface="Poppins"/>
                <a:cs typeface="Poppins"/>
                <a:sym typeface="Poppins"/>
              </a:rPr>
              <a:t> and </a:t>
            </a:r>
            <a:r>
              <a:rPr lang="en-US" sz="1600" b="0" i="1" u="none" strike="noStrike" cap="none">
                <a:solidFill>
                  <a:schemeClr val="dk1"/>
                </a:solidFill>
                <a:latin typeface="Poppins"/>
                <a:ea typeface="Poppins"/>
                <a:cs typeface="Poppins"/>
                <a:sym typeface="Poppins"/>
              </a:rPr>
              <a:t>oil-free bushing</a:t>
            </a:r>
            <a:r>
              <a:rPr lang="en-US" sz="1600" b="0" i="0" u="none" strike="noStrike" cap="none">
                <a:solidFill>
                  <a:schemeClr val="dk1"/>
                </a:solidFill>
                <a:latin typeface="Poppins"/>
                <a:ea typeface="Poppins"/>
                <a:cs typeface="Poppins"/>
                <a:sym typeface="Poppins"/>
              </a:rPr>
              <a:t>;  ball bushings are used in splines and have ball bearings present;  oil-free bushings have imbedded lubricants instead of ball bearings</a:t>
            </a:r>
            <a:endParaRPr sz="1400" b="0" i="0" u="none" strike="noStrike" cap="none">
              <a:solidFill>
                <a:srgbClr val="000000"/>
              </a:solidFill>
              <a:latin typeface="Arial"/>
              <a:ea typeface="Arial"/>
              <a:cs typeface="Arial"/>
              <a:sym typeface="Arial"/>
            </a:endParaRPr>
          </a:p>
        </p:txBody>
      </p:sp>
      <p:sp>
        <p:nvSpPr>
          <p:cNvPr id="241" name="Google Shape;241;p17"/>
          <p:cNvSpPr txBox="1"/>
          <p:nvPr/>
        </p:nvSpPr>
        <p:spPr>
          <a:xfrm>
            <a:off x="1676400" y="4114800"/>
            <a:ext cx="7467600" cy="1192212"/>
          </a:xfrm>
          <a:prstGeom prst="rect">
            <a:avLst/>
          </a:prstGeom>
          <a:noFill/>
          <a:ln>
            <a:noFill/>
          </a:ln>
        </p:spPr>
        <p:txBody>
          <a:bodyPr spcFirstLastPara="1" wrap="square" lIns="91425" tIns="45700" rIns="91425" bIns="45700" anchor="t" anchorCtr="0">
            <a:spAutoFit/>
          </a:bodyPr>
          <a:lstStyle/>
          <a:p>
            <a:pPr marL="801687" marR="0" lvl="1" indent="-225424" algn="l" rtl="0">
              <a:lnSpc>
                <a:spcPct val="100000"/>
              </a:lnSpc>
              <a:spcBef>
                <a:spcPts val="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Snap Ring:</a:t>
            </a:r>
            <a:r>
              <a:rPr lang="en-US" sz="1600" b="0" i="0" u="none" strike="noStrike" cap="none">
                <a:solidFill>
                  <a:schemeClr val="dk1"/>
                </a:solidFill>
                <a:latin typeface="Poppins"/>
                <a:ea typeface="Poppins"/>
                <a:cs typeface="Poppins"/>
                <a:sym typeface="Poppins"/>
              </a:rPr>
              <a:t>  or </a:t>
            </a:r>
            <a:r>
              <a:rPr lang="en-US" sz="1600" b="0" i="1" u="none" strike="noStrike" cap="none">
                <a:solidFill>
                  <a:schemeClr val="dk1"/>
                </a:solidFill>
                <a:latin typeface="Poppins"/>
                <a:ea typeface="Poppins"/>
                <a:cs typeface="Poppins"/>
                <a:sym typeface="Poppins"/>
              </a:rPr>
              <a:t>Retaining Rings</a:t>
            </a:r>
            <a:r>
              <a:rPr lang="en-US" sz="1600" b="0" i="0" u="none" strike="noStrike" cap="none">
                <a:solidFill>
                  <a:schemeClr val="dk1"/>
                </a:solidFill>
                <a:latin typeface="Poppins"/>
                <a:ea typeface="Poppins"/>
                <a:cs typeface="Poppins"/>
                <a:sym typeface="Poppins"/>
              </a:rPr>
              <a:t> are usually used to prevent movement of bearings;  2 types:  </a:t>
            </a:r>
            <a:r>
              <a:rPr lang="en-US" sz="1600" b="0" i="1" u="none" strike="noStrike" cap="none">
                <a:solidFill>
                  <a:schemeClr val="dk1"/>
                </a:solidFill>
                <a:latin typeface="Poppins"/>
                <a:ea typeface="Poppins"/>
                <a:cs typeface="Poppins"/>
                <a:sym typeface="Poppins"/>
              </a:rPr>
              <a:t>C-ring </a:t>
            </a:r>
            <a:r>
              <a:rPr lang="en-US" sz="1600" b="0" i="0" u="none" strike="noStrike" cap="none">
                <a:solidFill>
                  <a:schemeClr val="dk1"/>
                </a:solidFill>
                <a:latin typeface="Poppins"/>
                <a:ea typeface="Poppins"/>
                <a:cs typeface="Poppins"/>
                <a:sym typeface="Poppins"/>
              </a:rPr>
              <a:t>and</a:t>
            </a:r>
            <a:r>
              <a:rPr lang="en-US" sz="1600" b="0" i="1" u="none" strike="noStrike" cap="none">
                <a:solidFill>
                  <a:schemeClr val="dk1"/>
                </a:solidFill>
                <a:latin typeface="Poppins"/>
                <a:ea typeface="Poppins"/>
                <a:cs typeface="Poppins"/>
                <a:sym typeface="Poppins"/>
              </a:rPr>
              <a:t> E-ring</a:t>
            </a:r>
            <a:r>
              <a:rPr lang="en-US" sz="1600" b="0" i="0" u="none" strike="noStrike" cap="none">
                <a:solidFill>
                  <a:schemeClr val="dk1"/>
                </a:solidFill>
                <a:latin typeface="Poppins"/>
                <a:ea typeface="Poppins"/>
                <a:cs typeface="Poppins"/>
                <a:sym typeface="Poppins"/>
              </a:rPr>
              <a:t>;</a:t>
            </a:r>
            <a:r>
              <a:rPr lang="en-US" sz="1600" b="0" i="1" u="none" strike="noStrike" cap="none">
                <a:solidFill>
                  <a:schemeClr val="dk1"/>
                </a:solidFill>
                <a:latin typeface="Poppins"/>
                <a:ea typeface="Poppins"/>
                <a:cs typeface="Poppins"/>
                <a:sym typeface="Poppins"/>
              </a:rPr>
              <a:t>  </a:t>
            </a:r>
            <a:r>
              <a:rPr lang="en-US" sz="1600" b="0" i="0" u="none" strike="noStrike" cap="none">
                <a:solidFill>
                  <a:schemeClr val="dk1"/>
                </a:solidFill>
                <a:latin typeface="Poppins"/>
                <a:ea typeface="Poppins"/>
                <a:cs typeface="Poppins"/>
                <a:sym typeface="Poppins"/>
              </a:rPr>
              <a:t>E-rings are usually used for smaller diameter shafts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Poppins"/>
              <a:ea typeface="Poppins"/>
              <a:cs typeface="Poppins"/>
              <a:sym typeface="Poppins"/>
            </a:endParaRPr>
          </a:p>
        </p:txBody>
      </p:sp>
      <p:pic>
        <p:nvPicPr>
          <p:cNvPr id="242" name="Google Shape;242;p17" descr="bushing"/>
          <p:cNvPicPr preferRelativeResize="0"/>
          <p:nvPr/>
        </p:nvPicPr>
        <p:blipFill rotWithShape="1">
          <a:blip r:embed="rId7">
            <a:alphaModFix/>
          </a:blip>
          <a:srcRect/>
          <a:stretch/>
        </p:blipFill>
        <p:spPr>
          <a:xfrm>
            <a:off x="5791200" y="2746387"/>
            <a:ext cx="1828800" cy="13652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anim calcmode="lin" valueType="num">
                                      <p:cBhvr additive="base">
                                        <p:cTn id="7" dur="500"/>
                                        <p:tgtEl>
                                          <p:spTgt spid="2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8"/>
          <p:cNvSpPr txBox="1"/>
          <p:nvPr/>
        </p:nvSpPr>
        <p:spPr>
          <a:xfrm>
            <a:off x="0" y="1219200"/>
            <a:ext cx="1676400" cy="3025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248" name="Google Shape;248;p18"/>
          <p:cNvSpPr txBox="1"/>
          <p:nvPr/>
        </p:nvSpPr>
        <p:spPr>
          <a:xfrm>
            <a:off x="0" y="8382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249" name="Google Shape;249;p18"/>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250" name="Google Shape;250;p18"/>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sp>
        <p:nvSpPr>
          <p:cNvPr id="251" name="Google Shape;251;p18"/>
          <p:cNvSpPr txBox="1"/>
          <p:nvPr/>
        </p:nvSpPr>
        <p:spPr>
          <a:xfrm>
            <a:off x="1676400" y="1230312"/>
            <a:ext cx="7467600" cy="1192212"/>
          </a:xfrm>
          <a:prstGeom prst="rect">
            <a:avLst/>
          </a:prstGeom>
          <a:noFill/>
          <a:ln>
            <a:noFill/>
          </a:ln>
        </p:spPr>
        <p:txBody>
          <a:bodyPr spcFirstLastPara="1" wrap="square" lIns="91425" tIns="45700" rIns="91425" bIns="45700" anchor="t" anchorCtr="0">
            <a:spAutoFit/>
          </a:bodyPr>
          <a:lstStyle/>
          <a:p>
            <a:pPr marL="0" marR="0" lvl="0" indent="225425" algn="l" rtl="0">
              <a:lnSpc>
                <a:spcPct val="100000"/>
              </a:lnSpc>
              <a:spcBef>
                <a:spcPts val="0"/>
              </a:spcBef>
              <a:spcAft>
                <a:spcPts val="0"/>
              </a:spcAft>
              <a:buClr>
                <a:schemeClr val="dk1"/>
              </a:buClr>
              <a:buSzPts val="1600"/>
              <a:buFont typeface="Times New Roman"/>
              <a:buNone/>
            </a:pPr>
            <a:endParaRPr sz="1600" b="0" i="1" u="none" strike="noStrike" cap="none">
              <a:solidFill>
                <a:schemeClr val="dk1"/>
              </a:solidFill>
              <a:latin typeface="Poppins"/>
              <a:ea typeface="Poppins"/>
              <a:cs typeface="Poppins"/>
              <a:sym typeface="Poppins"/>
            </a:endParaRPr>
          </a:p>
          <a:p>
            <a:pPr marL="801687" marR="0" lvl="1" indent="-225424" algn="l" rtl="0">
              <a:lnSpc>
                <a:spcPct val="100000"/>
              </a:lnSpc>
              <a:spcBef>
                <a:spcPts val="80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Washer:  </a:t>
            </a:r>
            <a:r>
              <a:rPr lang="en-US" sz="1600" b="0" i="0" u="none" strike="noStrike" cap="none">
                <a:solidFill>
                  <a:schemeClr val="dk1"/>
                </a:solidFill>
                <a:latin typeface="Poppins"/>
                <a:ea typeface="Poppins"/>
                <a:cs typeface="Poppins"/>
                <a:sym typeface="Poppins"/>
              </a:rPr>
              <a:t>helps in fixing of fasteners;  2 types:  </a:t>
            </a:r>
            <a:r>
              <a:rPr lang="en-US" sz="1600" b="0" i="1" u="none" strike="noStrike" cap="none">
                <a:solidFill>
                  <a:schemeClr val="dk1"/>
                </a:solidFill>
                <a:latin typeface="Poppins"/>
                <a:ea typeface="Poppins"/>
                <a:cs typeface="Poppins"/>
                <a:sym typeface="Poppins"/>
              </a:rPr>
              <a:t>flat washer</a:t>
            </a:r>
            <a:r>
              <a:rPr lang="en-US" sz="1600" b="0" i="0" u="none" strike="noStrike" cap="none">
                <a:solidFill>
                  <a:schemeClr val="dk1"/>
                </a:solidFill>
                <a:latin typeface="Poppins"/>
                <a:ea typeface="Poppins"/>
                <a:cs typeface="Poppins"/>
                <a:sym typeface="Poppins"/>
              </a:rPr>
              <a:t> and </a:t>
            </a:r>
            <a:r>
              <a:rPr lang="en-US" sz="1600" b="0" i="1" u="none" strike="noStrike" cap="none">
                <a:solidFill>
                  <a:schemeClr val="dk1"/>
                </a:solidFill>
                <a:latin typeface="Poppins"/>
                <a:ea typeface="Poppins"/>
                <a:cs typeface="Poppins"/>
                <a:sym typeface="Poppins"/>
              </a:rPr>
              <a:t>spring washer</a:t>
            </a:r>
            <a:r>
              <a:rPr lang="en-US" sz="1600" b="0" i="0" u="none" strike="noStrike" cap="none">
                <a:solidFill>
                  <a:schemeClr val="dk1"/>
                </a:solidFill>
                <a:latin typeface="Poppins"/>
                <a:ea typeface="Poppins"/>
                <a:cs typeface="Poppins"/>
                <a:sym typeface="Poppins"/>
              </a:rPr>
              <a:t>;  flat washers are used in slots while spring washers are used in environments where vibration is present </a:t>
            </a:r>
            <a:endParaRPr sz="1400" b="0" i="0" u="none" strike="noStrike" cap="none">
              <a:solidFill>
                <a:srgbClr val="000000"/>
              </a:solidFill>
              <a:latin typeface="Arial"/>
              <a:ea typeface="Arial"/>
              <a:cs typeface="Arial"/>
              <a:sym typeface="Arial"/>
            </a:endParaRPr>
          </a:p>
        </p:txBody>
      </p:sp>
      <p:sp>
        <p:nvSpPr>
          <p:cNvPr id="252" name="Google Shape;252;p18"/>
          <p:cNvSpPr txBox="1"/>
          <p:nvPr/>
        </p:nvSpPr>
        <p:spPr>
          <a:xfrm>
            <a:off x="1676400" y="4267200"/>
            <a:ext cx="5638800" cy="336550"/>
          </a:xfrm>
          <a:prstGeom prst="rect">
            <a:avLst/>
          </a:prstGeom>
          <a:noFill/>
          <a:ln>
            <a:noFill/>
          </a:ln>
        </p:spPr>
        <p:txBody>
          <a:bodyPr spcFirstLastPara="1" wrap="square" lIns="91425" tIns="45700" rIns="91425" bIns="45700" anchor="t" anchorCtr="0">
            <a:spAutoFit/>
          </a:bodyPr>
          <a:lstStyle/>
          <a:p>
            <a:pPr marL="801687" marR="0" lvl="0" indent="-225425" algn="l" rtl="0">
              <a:lnSpc>
                <a:spcPct val="100000"/>
              </a:lnSpc>
              <a:spcBef>
                <a:spcPts val="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O-ring:</a:t>
            </a:r>
            <a:r>
              <a:rPr lang="en-US" sz="1600" b="0" i="0" u="none" strike="noStrike" cap="none">
                <a:solidFill>
                  <a:schemeClr val="dk1"/>
                </a:solidFill>
                <a:latin typeface="Poppins"/>
                <a:ea typeface="Poppins"/>
                <a:cs typeface="Poppins"/>
                <a:sym typeface="Poppins"/>
              </a:rPr>
              <a:t>  used to prevent leakage</a:t>
            </a:r>
            <a:endParaRPr sz="1400" b="0" i="0" u="none" strike="noStrike" cap="none">
              <a:solidFill>
                <a:srgbClr val="000000"/>
              </a:solidFill>
              <a:latin typeface="Arial"/>
              <a:ea typeface="Arial"/>
              <a:cs typeface="Arial"/>
              <a:sym typeface="Arial"/>
            </a:endParaRPr>
          </a:p>
        </p:txBody>
      </p:sp>
      <p:pic>
        <p:nvPicPr>
          <p:cNvPr id="253" name="Google Shape;253;p18" descr="washer"/>
          <p:cNvPicPr preferRelativeResize="0"/>
          <p:nvPr/>
        </p:nvPicPr>
        <p:blipFill rotWithShape="1">
          <a:blip r:embed="rId3">
            <a:alphaModFix/>
          </a:blip>
          <a:srcRect/>
          <a:stretch/>
        </p:blipFill>
        <p:spPr>
          <a:xfrm>
            <a:off x="3124200" y="2695575"/>
            <a:ext cx="1076325" cy="733425"/>
          </a:xfrm>
          <a:prstGeom prst="rect">
            <a:avLst/>
          </a:prstGeom>
          <a:noFill/>
          <a:ln>
            <a:noFill/>
          </a:ln>
        </p:spPr>
      </p:pic>
      <p:pic>
        <p:nvPicPr>
          <p:cNvPr id="254" name="Google Shape;254;p18" descr="washer2"/>
          <p:cNvPicPr preferRelativeResize="0"/>
          <p:nvPr/>
        </p:nvPicPr>
        <p:blipFill rotWithShape="1">
          <a:blip r:embed="rId4">
            <a:alphaModFix/>
          </a:blip>
          <a:srcRect/>
          <a:stretch/>
        </p:blipFill>
        <p:spPr>
          <a:xfrm>
            <a:off x="5029200" y="2598737"/>
            <a:ext cx="1143000" cy="8302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anim calcmode="lin" valueType="num">
                                      <p:cBhvr additive="base">
                                        <p:cTn id="7" dur="500"/>
                                        <p:tgtEl>
                                          <p:spTgt spid="254"/>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3"/>
                                        </p:tgtEl>
                                        <p:attrNameLst>
                                          <p:attrName>style.visibility</p:attrName>
                                        </p:attrNameLst>
                                      </p:cBhvr>
                                      <p:to>
                                        <p:strVal val="visible"/>
                                      </p:to>
                                    </p:set>
                                    <p:anim calcmode="lin" valueType="num">
                                      <p:cBhvr additive="base">
                                        <p:cTn id="12" dur="500"/>
                                        <p:tgtEl>
                                          <p:spTgt spid="2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9"/>
          <p:cNvSpPr txBox="1"/>
          <p:nvPr/>
        </p:nvSpPr>
        <p:spPr>
          <a:xfrm>
            <a:off x="0" y="1219200"/>
            <a:ext cx="1676400" cy="3025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260" name="Google Shape;260;p19"/>
          <p:cNvSpPr txBox="1"/>
          <p:nvPr/>
        </p:nvSpPr>
        <p:spPr>
          <a:xfrm>
            <a:off x="0" y="8382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261" name="Google Shape;261;p19"/>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262" name="Google Shape;262;p19"/>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pic>
        <p:nvPicPr>
          <p:cNvPr id="263" name="Google Shape;263;p19" descr="floating joint"/>
          <p:cNvPicPr preferRelativeResize="0"/>
          <p:nvPr/>
        </p:nvPicPr>
        <p:blipFill rotWithShape="1">
          <a:blip r:embed="rId3">
            <a:alphaModFix/>
          </a:blip>
          <a:srcRect/>
          <a:stretch/>
        </p:blipFill>
        <p:spPr>
          <a:xfrm>
            <a:off x="4876800" y="2233612"/>
            <a:ext cx="2290762" cy="1506537"/>
          </a:xfrm>
          <a:prstGeom prst="rect">
            <a:avLst/>
          </a:prstGeom>
          <a:noFill/>
          <a:ln>
            <a:noFill/>
          </a:ln>
        </p:spPr>
      </p:pic>
      <p:pic>
        <p:nvPicPr>
          <p:cNvPr id="264" name="Google Shape;264;p19" descr="mecha lock"/>
          <p:cNvPicPr preferRelativeResize="0"/>
          <p:nvPr/>
        </p:nvPicPr>
        <p:blipFill rotWithShape="1">
          <a:blip r:embed="rId4">
            <a:alphaModFix/>
          </a:blip>
          <a:srcRect/>
          <a:stretch/>
        </p:blipFill>
        <p:spPr>
          <a:xfrm>
            <a:off x="3640137" y="4495800"/>
            <a:ext cx="1862137" cy="1905000"/>
          </a:xfrm>
          <a:prstGeom prst="rect">
            <a:avLst/>
          </a:prstGeom>
          <a:noFill/>
          <a:ln>
            <a:noFill/>
          </a:ln>
        </p:spPr>
      </p:pic>
      <p:sp>
        <p:nvSpPr>
          <p:cNvPr id="265" name="Google Shape;265;p19"/>
          <p:cNvSpPr txBox="1"/>
          <p:nvPr/>
        </p:nvSpPr>
        <p:spPr>
          <a:xfrm>
            <a:off x="1676400" y="1230312"/>
            <a:ext cx="7467600" cy="947737"/>
          </a:xfrm>
          <a:prstGeom prst="rect">
            <a:avLst/>
          </a:prstGeom>
          <a:noFill/>
          <a:ln>
            <a:noFill/>
          </a:ln>
        </p:spPr>
        <p:txBody>
          <a:bodyPr spcFirstLastPara="1" wrap="square" lIns="91425" tIns="45700" rIns="91425" bIns="45700" anchor="t" anchorCtr="0">
            <a:spAutoFit/>
          </a:bodyPr>
          <a:lstStyle/>
          <a:p>
            <a:pPr marL="0" marR="0" lvl="0" indent="225425" algn="l" rtl="0">
              <a:lnSpc>
                <a:spcPct val="100000"/>
              </a:lnSpc>
              <a:spcBef>
                <a:spcPts val="0"/>
              </a:spcBef>
              <a:spcAft>
                <a:spcPts val="0"/>
              </a:spcAft>
              <a:buClr>
                <a:schemeClr val="dk1"/>
              </a:buClr>
              <a:buSzPts val="1600"/>
              <a:buFont typeface="Times New Roman"/>
              <a:buNone/>
            </a:pPr>
            <a:endParaRPr sz="1600" b="0" i="1" u="none" strike="noStrike" cap="none">
              <a:solidFill>
                <a:schemeClr val="dk1"/>
              </a:solidFill>
              <a:latin typeface="Poppins"/>
              <a:ea typeface="Poppins"/>
              <a:cs typeface="Poppins"/>
              <a:sym typeface="Poppins"/>
            </a:endParaRPr>
          </a:p>
          <a:p>
            <a:pPr marL="801687" marR="0" lvl="1" indent="-225424" algn="l" rtl="0">
              <a:lnSpc>
                <a:spcPct val="100000"/>
              </a:lnSpc>
              <a:spcBef>
                <a:spcPts val="80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Floating Joint:  </a:t>
            </a:r>
            <a:r>
              <a:rPr lang="en-US" sz="1600" b="0" i="0" u="none" strike="noStrike" cap="none">
                <a:solidFill>
                  <a:schemeClr val="dk1"/>
                </a:solidFill>
                <a:latin typeface="Poppins"/>
                <a:ea typeface="Poppins"/>
                <a:cs typeface="Poppins"/>
                <a:sym typeface="Poppins"/>
              </a:rPr>
              <a:t>usually used at the ends of cylinder rods to compensate for minor misalignment (eccentricity, deflection angle…  etc.)</a:t>
            </a:r>
            <a:endParaRPr sz="1400" b="0" i="0" u="none" strike="noStrike" cap="none">
              <a:solidFill>
                <a:srgbClr val="000000"/>
              </a:solidFill>
              <a:latin typeface="Arial"/>
              <a:ea typeface="Arial"/>
              <a:cs typeface="Arial"/>
              <a:sym typeface="Arial"/>
            </a:endParaRPr>
          </a:p>
        </p:txBody>
      </p:sp>
      <p:sp>
        <p:nvSpPr>
          <p:cNvPr id="266" name="Google Shape;266;p19"/>
          <p:cNvSpPr txBox="1"/>
          <p:nvPr/>
        </p:nvSpPr>
        <p:spPr>
          <a:xfrm>
            <a:off x="1676400" y="3581400"/>
            <a:ext cx="7467600" cy="336550"/>
          </a:xfrm>
          <a:prstGeom prst="rect">
            <a:avLst/>
          </a:prstGeom>
          <a:noFill/>
          <a:ln>
            <a:noFill/>
          </a:ln>
        </p:spPr>
        <p:txBody>
          <a:bodyPr spcFirstLastPara="1" wrap="square" lIns="91425" tIns="45700" rIns="91425" bIns="45700" anchor="t" anchorCtr="0">
            <a:spAutoFit/>
          </a:bodyPr>
          <a:lstStyle/>
          <a:p>
            <a:pPr marL="801687" marR="0" lvl="0" indent="-225425" algn="l" rtl="0">
              <a:lnSpc>
                <a:spcPct val="100000"/>
              </a:lnSpc>
              <a:spcBef>
                <a:spcPts val="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Power Lock:</a:t>
            </a:r>
            <a:r>
              <a:rPr lang="en-US" sz="1600" b="0" i="0" u="none" strike="noStrike" cap="none">
                <a:solidFill>
                  <a:schemeClr val="dk1"/>
                </a:solidFill>
                <a:latin typeface="Poppins"/>
                <a:ea typeface="Poppins"/>
                <a:cs typeface="Poppins"/>
                <a:sym typeface="Poppins"/>
              </a:rPr>
              <a:t>  used as a lock for shafts by method of gripping</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3"/>
                                        </p:tgtEl>
                                        <p:attrNameLst>
                                          <p:attrName>style.visibility</p:attrName>
                                        </p:attrNameLst>
                                      </p:cBhvr>
                                      <p:to>
                                        <p:strVal val="visible"/>
                                      </p:to>
                                    </p:set>
                                    <p:anim calcmode="lin" valueType="num">
                                      <p:cBhvr additive="base">
                                        <p:cTn id="7" dur="500"/>
                                        <p:tgtEl>
                                          <p:spTgt spid="263"/>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4"/>
                                        </p:tgtEl>
                                        <p:attrNameLst>
                                          <p:attrName>style.visibility</p:attrName>
                                        </p:attrNameLst>
                                      </p:cBhvr>
                                      <p:to>
                                        <p:strVal val="visible"/>
                                      </p:to>
                                    </p:set>
                                    <p:anim calcmode="lin" valueType="num">
                                      <p:cBhvr additive="base">
                                        <p:cTn id="12" dur="500"/>
                                        <p:tgtEl>
                                          <p:spTgt spid="2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0"/>
          <p:cNvSpPr txBox="1"/>
          <p:nvPr/>
        </p:nvSpPr>
        <p:spPr>
          <a:xfrm>
            <a:off x="0" y="1219200"/>
            <a:ext cx="1676400" cy="3025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Couplings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Gears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Flexible Power-Transmitting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Threaded Fasteners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folHlink"/>
              </a:buClr>
              <a:buSzPts val="1600"/>
              <a:buFont typeface="Arial"/>
              <a:buNone/>
            </a:pPr>
            <a:r>
              <a:rPr lang="en-US" sz="1600" b="0" i="0" u="none" strike="noStrike" cap="none">
                <a:solidFill>
                  <a:schemeClr val="folHlink"/>
                </a:solidFill>
                <a:latin typeface="Arial"/>
                <a:ea typeface="Arial"/>
                <a:cs typeface="Arial"/>
                <a:sym typeface="Arial"/>
              </a:rPr>
              <a:t>Roller Bearings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chemeClr val="accent2"/>
              </a:buClr>
              <a:buSzPts val="1600"/>
              <a:buFont typeface="Arial"/>
              <a:buNone/>
            </a:pPr>
            <a:r>
              <a:rPr lang="en-US" sz="1600" b="1" i="0" u="none" strike="noStrike" cap="none">
                <a:solidFill>
                  <a:schemeClr val="accent2"/>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272" name="Google Shape;272;p20"/>
          <p:cNvSpPr txBox="1"/>
          <p:nvPr/>
        </p:nvSpPr>
        <p:spPr>
          <a:xfrm>
            <a:off x="0" y="838200"/>
            <a:ext cx="19050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00"/>
              </a:buClr>
              <a:buSzPts val="1600"/>
              <a:buFont typeface="Poppins"/>
              <a:buNone/>
            </a:pPr>
            <a:r>
              <a:rPr lang="en-US" sz="1600" b="1" i="0" u="none" strike="noStrike" cap="none">
                <a:solidFill>
                  <a:srgbClr val="FFFF00"/>
                </a:solidFill>
                <a:latin typeface="Poppins"/>
                <a:ea typeface="Poppins"/>
                <a:cs typeface="Poppins"/>
                <a:sym typeface="Poppins"/>
              </a:rPr>
              <a:t>DEFINITION</a:t>
            </a:r>
            <a:endParaRPr sz="1400" b="0" i="0" u="none" strike="noStrike" cap="none">
              <a:solidFill>
                <a:srgbClr val="000000"/>
              </a:solidFill>
              <a:latin typeface="Arial"/>
              <a:ea typeface="Arial"/>
              <a:cs typeface="Arial"/>
              <a:sym typeface="Arial"/>
            </a:endParaRPr>
          </a:p>
        </p:txBody>
      </p:sp>
      <p:sp>
        <p:nvSpPr>
          <p:cNvPr id="273" name="Google Shape;273;p20"/>
          <p:cNvSpPr txBox="1"/>
          <p:nvPr/>
        </p:nvSpPr>
        <p:spPr>
          <a:xfrm>
            <a:off x="1828800" y="838200"/>
            <a:ext cx="1371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TYPES</a:t>
            </a:r>
            <a:endParaRPr sz="1400" b="0" i="0" u="none" strike="noStrike" cap="none">
              <a:solidFill>
                <a:srgbClr val="000000"/>
              </a:solidFill>
              <a:latin typeface="Arial"/>
              <a:ea typeface="Arial"/>
              <a:cs typeface="Arial"/>
              <a:sym typeface="Arial"/>
            </a:endParaRPr>
          </a:p>
        </p:txBody>
      </p:sp>
      <p:sp>
        <p:nvSpPr>
          <p:cNvPr id="274" name="Google Shape;274;p20"/>
          <p:cNvSpPr txBox="1"/>
          <p:nvPr/>
        </p:nvSpPr>
        <p:spPr>
          <a:xfrm>
            <a:off x="3124200" y="838200"/>
            <a:ext cx="1752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Poppins"/>
              <a:buNone/>
            </a:pPr>
            <a:r>
              <a:rPr lang="en-US" sz="1600" b="1" i="0" u="none" strike="noStrike" cap="none">
                <a:solidFill>
                  <a:schemeClr val="lt1"/>
                </a:solidFill>
                <a:latin typeface="Poppins"/>
                <a:ea typeface="Poppins"/>
                <a:cs typeface="Poppins"/>
                <a:sym typeface="Poppins"/>
              </a:rPr>
              <a:t>IDENTIFICATION</a:t>
            </a:r>
            <a:endParaRPr sz="1400" b="0" i="0" u="none" strike="noStrike" cap="none">
              <a:solidFill>
                <a:srgbClr val="000000"/>
              </a:solidFill>
              <a:latin typeface="Arial"/>
              <a:ea typeface="Arial"/>
              <a:cs typeface="Arial"/>
              <a:sym typeface="Arial"/>
            </a:endParaRPr>
          </a:p>
        </p:txBody>
      </p:sp>
      <p:pic>
        <p:nvPicPr>
          <p:cNvPr id="275" name="Google Shape;275;p20" descr="locating pin"/>
          <p:cNvPicPr preferRelativeResize="0"/>
          <p:nvPr/>
        </p:nvPicPr>
        <p:blipFill rotWithShape="1">
          <a:blip r:embed="rId3">
            <a:alphaModFix/>
          </a:blip>
          <a:srcRect/>
          <a:stretch/>
        </p:blipFill>
        <p:spPr>
          <a:xfrm>
            <a:off x="2514600" y="1981200"/>
            <a:ext cx="1150937" cy="1600200"/>
          </a:xfrm>
          <a:prstGeom prst="rect">
            <a:avLst/>
          </a:prstGeom>
          <a:noFill/>
          <a:ln>
            <a:noFill/>
          </a:ln>
        </p:spPr>
      </p:pic>
      <p:pic>
        <p:nvPicPr>
          <p:cNvPr id="276" name="Google Shape;276;p20" descr="locating pin2"/>
          <p:cNvPicPr preferRelativeResize="0"/>
          <p:nvPr/>
        </p:nvPicPr>
        <p:blipFill rotWithShape="1">
          <a:blip r:embed="rId4">
            <a:alphaModFix/>
          </a:blip>
          <a:srcRect/>
          <a:stretch/>
        </p:blipFill>
        <p:spPr>
          <a:xfrm>
            <a:off x="4876800" y="1905000"/>
            <a:ext cx="1392237" cy="1676400"/>
          </a:xfrm>
          <a:prstGeom prst="rect">
            <a:avLst/>
          </a:prstGeom>
          <a:noFill/>
          <a:ln>
            <a:noFill/>
          </a:ln>
        </p:spPr>
      </p:pic>
      <p:pic>
        <p:nvPicPr>
          <p:cNvPr id="277" name="Google Shape;277;p20" descr="shim"/>
          <p:cNvPicPr preferRelativeResize="0"/>
          <p:nvPr/>
        </p:nvPicPr>
        <p:blipFill rotWithShape="1">
          <a:blip r:embed="rId5">
            <a:alphaModFix/>
          </a:blip>
          <a:srcRect/>
          <a:stretch/>
        </p:blipFill>
        <p:spPr>
          <a:xfrm>
            <a:off x="2590800" y="4800600"/>
            <a:ext cx="1343025" cy="885825"/>
          </a:xfrm>
          <a:prstGeom prst="rect">
            <a:avLst/>
          </a:prstGeom>
          <a:noFill/>
          <a:ln>
            <a:noFill/>
          </a:ln>
        </p:spPr>
      </p:pic>
      <p:pic>
        <p:nvPicPr>
          <p:cNvPr id="278" name="Google Shape;278;p20" descr="shim2"/>
          <p:cNvPicPr preferRelativeResize="0"/>
          <p:nvPr/>
        </p:nvPicPr>
        <p:blipFill rotWithShape="1">
          <a:blip r:embed="rId6">
            <a:alphaModFix/>
          </a:blip>
          <a:srcRect/>
          <a:stretch/>
        </p:blipFill>
        <p:spPr>
          <a:xfrm>
            <a:off x="5257800" y="4724400"/>
            <a:ext cx="1219200" cy="1047750"/>
          </a:xfrm>
          <a:prstGeom prst="rect">
            <a:avLst/>
          </a:prstGeom>
          <a:noFill/>
          <a:ln>
            <a:noFill/>
          </a:ln>
        </p:spPr>
      </p:pic>
      <p:sp>
        <p:nvSpPr>
          <p:cNvPr id="279" name="Google Shape;279;p20"/>
          <p:cNvSpPr txBox="1"/>
          <p:nvPr/>
        </p:nvSpPr>
        <p:spPr>
          <a:xfrm>
            <a:off x="1676400" y="1230312"/>
            <a:ext cx="7467600" cy="933900"/>
          </a:xfrm>
          <a:prstGeom prst="rect">
            <a:avLst/>
          </a:prstGeom>
          <a:noFill/>
          <a:ln>
            <a:noFill/>
          </a:ln>
        </p:spPr>
        <p:txBody>
          <a:bodyPr spcFirstLastPara="1" wrap="square" lIns="91425" tIns="45700" rIns="91425" bIns="45700" anchor="t" anchorCtr="0">
            <a:spAutoFit/>
          </a:bodyPr>
          <a:lstStyle/>
          <a:p>
            <a:pPr marL="0" marR="0" lvl="0" indent="225425" algn="l" rtl="0">
              <a:lnSpc>
                <a:spcPct val="100000"/>
              </a:lnSpc>
              <a:spcBef>
                <a:spcPts val="0"/>
              </a:spcBef>
              <a:spcAft>
                <a:spcPts val="0"/>
              </a:spcAft>
              <a:buClr>
                <a:schemeClr val="dk1"/>
              </a:buClr>
              <a:buSzPts val="1600"/>
              <a:buFont typeface="Times New Roman"/>
              <a:buNone/>
            </a:pPr>
            <a:endParaRPr sz="1600" b="0" i="1" u="none" strike="noStrike" cap="none">
              <a:solidFill>
                <a:schemeClr val="dk1"/>
              </a:solidFill>
              <a:latin typeface="Poppins"/>
              <a:ea typeface="Poppins"/>
              <a:cs typeface="Poppins"/>
              <a:sym typeface="Poppins"/>
            </a:endParaRPr>
          </a:p>
          <a:p>
            <a:pPr marL="801687" marR="0" lvl="1" indent="-225424" algn="l" rtl="0">
              <a:lnSpc>
                <a:spcPct val="100000"/>
              </a:lnSpc>
              <a:spcBef>
                <a:spcPts val="80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Locating Pin:  </a:t>
            </a:r>
            <a:r>
              <a:rPr lang="en-US" sz="1600" b="0" i="0" u="none" strike="noStrike" cap="none">
                <a:solidFill>
                  <a:schemeClr val="dk1"/>
                </a:solidFill>
                <a:latin typeface="Poppins"/>
                <a:ea typeface="Poppins"/>
                <a:cs typeface="Poppins"/>
                <a:sym typeface="Poppins"/>
              </a:rPr>
              <a:t>for precise positioning of critical parts; prevents unnecessary movement; made of materials with high hardness</a:t>
            </a:r>
            <a:endParaRPr sz="1400" b="0" i="0" u="none" strike="noStrike" cap="none">
              <a:solidFill>
                <a:srgbClr val="000000"/>
              </a:solidFill>
              <a:latin typeface="Arial"/>
              <a:ea typeface="Arial"/>
              <a:cs typeface="Arial"/>
              <a:sym typeface="Arial"/>
            </a:endParaRPr>
          </a:p>
        </p:txBody>
      </p:sp>
      <p:sp>
        <p:nvSpPr>
          <p:cNvPr id="280" name="Google Shape;280;p20"/>
          <p:cNvSpPr txBox="1"/>
          <p:nvPr/>
        </p:nvSpPr>
        <p:spPr>
          <a:xfrm>
            <a:off x="1676400" y="3733800"/>
            <a:ext cx="7467600" cy="581025"/>
          </a:xfrm>
          <a:prstGeom prst="rect">
            <a:avLst/>
          </a:prstGeom>
          <a:noFill/>
          <a:ln>
            <a:noFill/>
          </a:ln>
        </p:spPr>
        <p:txBody>
          <a:bodyPr spcFirstLastPara="1" wrap="square" lIns="91425" tIns="45700" rIns="91425" bIns="45700" anchor="t" anchorCtr="0">
            <a:spAutoFit/>
          </a:bodyPr>
          <a:lstStyle/>
          <a:p>
            <a:pPr marL="801687" marR="0" lvl="0" indent="-225425" algn="l" rtl="0">
              <a:lnSpc>
                <a:spcPct val="100000"/>
              </a:lnSpc>
              <a:spcBef>
                <a:spcPts val="0"/>
              </a:spcBef>
              <a:spcAft>
                <a:spcPts val="0"/>
              </a:spcAft>
              <a:buClr>
                <a:schemeClr val="dk1"/>
              </a:buClr>
              <a:buSzPts val="1600"/>
              <a:buFont typeface="Poppins"/>
              <a:buChar char="•"/>
            </a:pPr>
            <a:r>
              <a:rPr lang="en-US" sz="1600" b="1" i="0" u="none" strike="noStrike" cap="none">
                <a:solidFill>
                  <a:schemeClr val="dk1"/>
                </a:solidFill>
                <a:latin typeface="Poppins"/>
                <a:ea typeface="Poppins"/>
                <a:cs typeface="Poppins"/>
                <a:sym typeface="Poppins"/>
              </a:rPr>
              <a:t>Shim:</a:t>
            </a:r>
            <a:r>
              <a:rPr lang="en-US" sz="1600" b="0" i="0" u="none" strike="noStrike" cap="none">
                <a:solidFill>
                  <a:schemeClr val="dk1"/>
                </a:solidFill>
                <a:latin typeface="Poppins"/>
                <a:ea typeface="Poppins"/>
                <a:cs typeface="Poppins"/>
                <a:sym typeface="Poppins"/>
              </a:rPr>
              <a:t>  used mainly as precise spacer, to take care of small adjustments necessary </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anim calcmode="lin" valueType="num">
                                      <p:cBhvr additive="base">
                                        <p:cTn id="7" dur="500"/>
                                        <p:tgtEl>
                                          <p:spTgt spid="275"/>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76"/>
                                        </p:tgtEl>
                                        <p:attrNameLst>
                                          <p:attrName>style.visibility</p:attrName>
                                        </p:attrNameLst>
                                      </p:cBhvr>
                                      <p:to>
                                        <p:strVal val="visible"/>
                                      </p:to>
                                    </p:set>
                                    <p:anim calcmode="lin" valueType="num">
                                      <p:cBhvr additive="base">
                                        <p:cTn id="12" dur="500"/>
                                        <p:tgtEl>
                                          <p:spTgt spid="276"/>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7"/>
                                        </p:tgtEl>
                                        <p:attrNameLst>
                                          <p:attrName>style.visibility</p:attrName>
                                        </p:attrNameLst>
                                      </p:cBhvr>
                                      <p:to>
                                        <p:strVal val="visible"/>
                                      </p:to>
                                    </p:set>
                                    <p:anim calcmode="lin" valueType="num">
                                      <p:cBhvr additive="base">
                                        <p:cTn id="17" dur="500"/>
                                        <p:tgtEl>
                                          <p:spTgt spid="277"/>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78"/>
                                        </p:tgtEl>
                                        <p:attrNameLst>
                                          <p:attrName>style.visibility</p:attrName>
                                        </p:attrNameLst>
                                      </p:cBhvr>
                                      <p:to>
                                        <p:strVal val="visible"/>
                                      </p:to>
                                    </p:set>
                                    <p:anim calcmode="lin" valueType="num">
                                      <p:cBhvr additive="base">
                                        <p:cTn id="22" dur="500"/>
                                        <p:tgtEl>
                                          <p:spTgt spid="2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1"/>
          <p:cNvSpPr txBox="1"/>
          <p:nvPr/>
        </p:nvSpPr>
        <p:spPr>
          <a:xfrm>
            <a:off x="3124200" y="5257800"/>
            <a:ext cx="3454400" cy="9239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5400"/>
              <a:buFont typeface="Times New Roman"/>
              <a:buNone/>
            </a:pPr>
            <a:r>
              <a:rPr lang="en-US" sz="5400" b="0" i="0" u="none" strike="noStrike" cap="none">
                <a:solidFill>
                  <a:schemeClr val="dk1"/>
                </a:solidFill>
                <a:latin typeface="Times New Roman"/>
                <a:ea typeface="Times New Roman"/>
                <a:cs typeface="Times New Roman"/>
                <a:sym typeface="Times New Roman"/>
              </a:rPr>
              <a:t>Thank You!</a:t>
            </a:r>
            <a:endParaRPr sz="1400" b="0" i="0" u="none" strike="noStrike" cap="none">
              <a:solidFill>
                <a:srgbClr val="000000"/>
              </a:solidFill>
              <a:latin typeface="Arial"/>
              <a:ea typeface="Arial"/>
              <a:cs typeface="Arial"/>
              <a:sym typeface="Arial"/>
            </a:endParaRPr>
          </a:p>
        </p:txBody>
      </p:sp>
      <p:pic>
        <p:nvPicPr>
          <p:cNvPr id="286" name="Google Shape;286;p21"/>
          <p:cNvPicPr preferRelativeResize="0"/>
          <p:nvPr/>
        </p:nvPicPr>
        <p:blipFill rotWithShape="1">
          <a:blip r:embed="rId3">
            <a:alphaModFix/>
          </a:blip>
          <a:srcRect/>
          <a:stretch/>
        </p:blipFill>
        <p:spPr>
          <a:xfrm>
            <a:off x="2057400" y="1524000"/>
            <a:ext cx="5181600" cy="3657600"/>
          </a:xfrm>
          <a:prstGeom prst="rect">
            <a:avLst/>
          </a:prstGeom>
          <a:noFill/>
          <a:ln>
            <a:noFill/>
          </a:ln>
        </p:spPr>
      </p:pic>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978</Words>
  <Application>Microsoft Office PowerPoint</Application>
  <PresentationFormat>On-screen Show (4:3)</PresentationFormat>
  <Paragraphs>283</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Times New Roman</vt:lpstr>
      <vt:lpstr>Poppins</vt:lpstr>
      <vt:lpstr>Arial</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Mikko De Torres</cp:lastModifiedBy>
  <cp:revision>1</cp:revision>
  <dcterms:modified xsi:type="dcterms:W3CDTF">2026-04-11T07:05:07Z</dcterms:modified>
</cp:coreProperties>
</file>